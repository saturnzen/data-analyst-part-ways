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68" r:id="rId4"/>
    <p:sldId id="267"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60" r:id="rId20"/>
    <p:sldId id="262" r:id="rId21"/>
    <p:sldId id="263" r:id="rId22"/>
    <p:sldId id="264" r:id="rId23"/>
    <p:sldId id="265" r:id="rId24"/>
    <p:sldId id="2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62"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B082CD-66A2-40F8-81FD-8F83EA60C47B}" type="datetimeFigureOut">
              <a:rPr lang="vi-VN" smtClean="0"/>
              <a:t>07/01/2026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3E5E6-B465-4BA3-9086-35F9332F5787}" type="slidenum">
              <a:rPr lang="vi-VN" smtClean="0"/>
              <a:t>‹#›</a:t>
            </a:fld>
            <a:endParaRPr lang="vi-VN"/>
          </a:p>
        </p:txBody>
      </p:sp>
    </p:spTree>
    <p:extLst>
      <p:ext uri="{BB962C8B-B14F-4D97-AF65-F5344CB8AC3E}">
        <p14:creationId xmlns:p14="http://schemas.microsoft.com/office/powerpoint/2010/main" val="693330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p:cNvSpPr>
            <a:spLocks noGrp="1"/>
          </p:cNvSpPr>
          <p:nvPr>
            <p:ph type="sldNum" sz="quarter" idx="5"/>
          </p:nvPr>
        </p:nvSpPr>
        <p:spPr/>
        <p:txBody>
          <a:bodyPr/>
          <a:lstStyle/>
          <a:p>
            <a:fld id="{0E33E5E6-B465-4BA3-9086-35F9332F5787}" type="slidenum">
              <a:rPr lang="vi-VN" smtClean="0"/>
              <a:t>2</a:t>
            </a:fld>
            <a:endParaRPr lang="vi-VN"/>
          </a:p>
        </p:txBody>
      </p:sp>
    </p:spTree>
    <p:extLst>
      <p:ext uri="{BB962C8B-B14F-4D97-AF65-F5344CB8AC3E}">
        <p14:creationId xmlns:p14="http://schemas.microsoft.com/office/powerpoint/2010/main" val="343384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5AA67-BBB0-CC69-0D98-F0F02C7E5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FA74F-28AF-983F-BC5E-F5B1BBFE9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6B485-F089-B095-62FF-C33876B678C4}"/>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F5B5F939-DFA4-EBE0-DD65-12C6011A6783}"/>
              </a:ext>
            </a:extLst>
          </p:cNvPr>
          <p:cNvSpPr>
            <a:spLocks noGrp="1"/>
          </p:cNvSpPr>
          <p:nvPr>
            <p:ph type="sldNum" sz="quarter" idx="5"/>
          </p:nvPr>
        </p:nvSpPr>
        <p:spPr/>
        <p:txBody>
          <a:bodyPr/>
          <a:lstStyle/>
          <a:p>
            <a:fld id="{0E33E5E6-B465-4BA3-9086-35F9332F5787}" type="slidenum">
              <a:rPr lang="vi-VN" smtClean="0"/>
              <a:t>3</a:t>
            </a:fld>
            <a:endParaRPr lang="vi-VN"/>
          </a:p>
        </p:txBody>
      </p:sp>
    </p:spTree>
    <p:extLst>
      <p:ext uri="{BB962C8B-B14F-4D97-AF65-F5344CB8AC3E}">
        <p14:creationId xmlns:p14="http://schemas.microsoft.com/office/powerpoint/2010/main" val="1258226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CE3E5-6502-8A61-FCE6-FD548E5F4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E1A86-1AB4-96E4-14F8-0BA5D4E71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FBFF4-77A8-B83A-9F62-E4D7F2CDE73C}"/>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8A2491EC-89AF-C551-7F5E-4685472F23BD}"/>
              </a:ext>
            </a:extLst>
          </p:cNvPr>
          <p:cNvSpPr>
            <a:spLocks noGrp="1"/>
          </p:cNvSpPr>
          <p:nvPr>
            <p:ph type="sldNum" sz="quarter" idx="5"/>
          </p:nvPr>
        </p:nvSpPr>
        <p:spPr/>
        <p:txBody>
          <a:bodyPr/>
          <a:lstStyle/>
          <a:p>
            <a:fld id="{0E33E5E6-B465-4BA3-9086-35F9332F5787}" type="slidenum">
              <a:rPr lang="vi-VN" smtClean="0"/>
              <a:t>4</a:t>
            </a:fld>
            <a:endParaRPr lang="vi-VN"/>
          </a:p>
        </p:txBody>
      </p:sp>
    </p:spTree>
    <p:extLst>
      <p:ext uri="{BB962C8B-B14F-4D97-AF65-F5344CB8AC3E}">
        <p14:creationId xmlns:p14="http://schemas.microsoft.com/office/powerpoint/2010/main" val="2875005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B05A-5D5E-B819-84E5-D0037B8C5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78B52-E0BE-A2E4-CD7A-11801A8EA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32169-61D1-C0E0-7AF8-C7846C1467AC}"/>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77AFE59B-5C55-29B7-F680-40450504CD2C}"/>
              </a:ext>
            </a:extLst>
          </p:cNvPr>
          <p:cNvSpPr>
            <a:spLocks noGrp="1"/>
          </p:cNvSpPr>
          <p:nvPr>
            <p:ph type="sldNum" sz="quarter" idx="5"/>
          </p:nvPr>
        </p:nvSpPr>
        <p:spPr/>
        <p:txBody>
          <a:bodyPr/>
          <a:lstStyle/>
          <a:p>
            <a:fld id="{0E33E5E6-B465-4BA3-9086-35F9332F5787}" type="slidenum">
              <a:rPr lang="vi-VN" smtClean="0"/>
              <a:t>5</a:t>
            </a:fld>
            <a:endParaRPr lang="vi-VN"/>
          </a:p>
        </p:txBody>
      </p:sp>
    </p:spTree>
    <p:extLst>
      <p:ext uri="{BB962C8B-B14F-4D97-AF65-F5344CB8AC3E}">
        <p14:creationId xmlns:p14="http://schemas.microsoft.com/office/powerpoint/2010/main" val="95139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0EA30-B207-AA95-34B8-AA82067EB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33551-5DD6-7FBB-4D93-EE40047FF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5C9A94-0406-9E00-0B17-ACBE0963DD7F}"/>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302B9011-EA74-49C4-E68C-EAF3EAF4A28D}"/>
              </a:ext>
            </a:extLst>
          </p:cNvPr>
          <p:cNvSpPr>
            <a:spLocks noGrp="1"/>
          </p:cNvSpPr>
          <p:nvPr>
            <p:ph type="sldNum" sz="quarter" idx="5"/>
          </p:nvPr>
        </p:nvSpPr>
        <p:spPr/>
        <p:txBody>
          <a:bodyPr/>
          <a:lstStyle/>
          <a:p>
            <a:fld id="{0E33E5E6-B465-4BA3-9086-35F9332F5787}" type="slidenum">
              <a:rPr lang="vi-VN" smtClean="0"/>
              <a:t>6</a:t>
            </a:fld>
            <a:endParaRPr lang="vi-VN"/>
          </a:p>
        </p:txBody>
      </p:sp>
    </p:spTree>
    <p:extLst>
      <p:ext uri="{BB962C8B-B14F-4D97-AF65-F5344CB8AC3E}">
        <p14:creationId xmlns:p14="http://schemas.microsoft.com/office/powerpoint/2010/main" val="4205903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4267-9EE0-D093-489A-AF4FB5A6F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CDC363-DC37-0995-5674-5FAFBA6AC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A00F0-79CE-4928-3F1A-1B6513412BA1}"/>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4B0EA07A-A9B4-6293-D98B-717818686A3E}"/>
              </a:ext>
            </a:extLst>
          </p:cNvPr>
          <p:cNvSpPr>
            <a:spLocks noGrp="1"/>
          </p:cNvSpPr>
          <p:nvPr>
            <p:ph type="sldNum" sz="quarter" idx="5"/>
          </p:nvPr>
        </p:nvSpPr>
        <p:spPr/>
        <p:txBody>
          <a:bodyPr/>
          <a:lstStyle/>
          <a:p>
            <a:fld id="{0E33E5E6-B465-4BA3-9086-35F9332F5787}" type="slidenum">
              <a:rPr lang="vi-VN" smtClean="0"/>
              <a:t>7</a:t>
            </a:fld>
            <a:endParaRPr lang="vi-VN"/>
          </a:p>
        </p:txBody>
      </p:sp>
    </p:spTree>
    <p:extLst>
      <p:ext uri="{BB962C8B-B14F-4D97-AF65-F5344CB8AC3E}">
        <p14:creationId xmlns:p14="http://schemas.microsoft.com/office/powerpoint/2010/main" val="3654312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60C42-C6C5-7AE3-6E1D-8872E3047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08D13-2C4A-B03E-A924-6275BF1B5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E61F5C-E95A-6796-6056-3F2C2D74FD61}"/>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07310932-DE7A-2AF1-1546-D0723A0A130E}"/>
              </a:ext>
            </a:extLst>
          </p:cNvPr>
          <p:cNvSpPr>
            <a:spLocks noGrp="1"/>
          </p:cNvSpPr>
          <p:nvPr>
            <p:ph type="sldNum" sz="quarter" idx="5"/>
          </p:nvPr>
        </p:nvSpPr>
        <p:spPr/>
        <p:txBody>
          <a:bodyPr/>
          <a:lstStyle/>
          <a:p>
            <a:fld id="{0E33E5E6-B465-4BA3-9086-35F9332F5787}" type="slidenum">
              <a:rPr lang="vi-VN" smtClean="0"/>
              <a:t>8</a:t>
            </a:fld>
            <a:endParaRPr lang="vi-VN"/>
          </a:p>
        </p:txBody>
      </p:sp>
    </p:spTree>
    <p:extLst>
      <p:ext uri="{BB962C8B-B14F-4D97-AF65-F5344CB8AC3E}">
        <p14:creationId xmlns:p14="http://schemas.microsoft.com/office/powerpoint/2010/main" val="250981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54FF-F0D4-E942-C120-B77ACF367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D2B50-FCF1-C421-2DED-6AABD367D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FEF2F-D265-8D63-2BF6-30D7D4A0161A}"/>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8E63A0B2-324B-6075-FBDE-5D7247BC53C1}"/>
              </a:ext>
            </a:extLst>
          </p:cNvPr>
          <p:cNvSpPr>
            <a:spLocks noGrp="1"/>
          </p:cNvSpPr>
          <p:nvPr>
            <p:ph type="sldNum" sz="quarter" idx="5"/>
          </p:nvPr>
        </p:nvSpPr>
        <p:spPr/>
        <p:txBody>
          <a:bodyPr/>
          <a:lstStyle/>
          <a:p>
            <a:fld id="{0E33E5E6-B465-4BA3-9086-35F9332F5787}" type="slidenum">
              <a:rPr lang="vi-VN" smtClean="0"/>
              <a:t>9</a:t>
            </a:fld>
            <a:endParaRPr lang="vi-VN"/>
          </a:p>
        </p:txBody>
      </p:sp>
    </p:spTree>
    <p:extLst>
      <p:ext uri="{BB962C8B-B14F-4D97-AF65-F5344CB8AC3E}">
        <p14:creationId xmlns:p14="http://schemas.microsoft.com/office/powerpoint/2010/main" val="2100176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37C9E-28FE-769C-AF9A-E18E5C37C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D9ABB-0596-1326-8D66-65DBE4561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6CBE5-E230-F768-3660-27687353B63E}"/>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DCE1A945-CADF-E85D-0974-988421E63EC7}"/>
              </a:ext>
            </a:extLst>
          </p:cNvPr>
          <p:cNvSpPr>
            <a:spLocks noGrp="1"/>
          </p:cNvSpPr>
          <p:nvPr>
            <p:ph type="sldNum" sz="quarter" idx="5"/>
          </p:nvPr>
        </p:nvSpPr>
        <p:spPr/>
        <p:txBody>
          <a:bodyPr/>
          <a:lstStyle/>
          <a:p>
            <a:fld id="{0E33E5E6-B465-4BA3-9086-35F9332F5787}" type="slidenum">
              <a:rPr lang="vi-VN" smtClean="0"/>
              <a:t>10</a:t>
            </a:fld>
            <a:endParaRPr lang="vi-VN"/>
          </a:p>
        </p:txBody>
      </p:sp>
    </p:spTree>
    <p:extLst>
      <p:ext uri="{BB962C8B-B14F-4D97-AF65-F5344CB8AC3E}">
        <p14:creationId xmlns:p14="http://schemas.microsoft.com/office/powerpoint/2010/main" val="3627058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2E31D-9BE8-521A-8ADF-A3FA55402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F7ED3-6FAF-8B84-6D68-9775AD303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7457B-CE54-DA14-B1C9-332671899CF4}"/>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47DF38D9-1DAB-F68F-21D5-EFE298CB38C9}"/>
              </a:ext>
            </a:extLst>
          </p:cNvPr>
          <p:cNvSpPr>
            <a:spLocks noGrp="1"/>
          </p:cNvSpPr>
          <p:nvPr>
            <p:ph type="sldNum" sz="quarter" idx="5"/>
          </p:nvPr>
        </p:nvSpPr>
        <p:spPr/>
        <p:txBody>
          <a:bodyPr/>
          <a:lstStyle/>
          <a:p>
            <a:fld id="{0E33E5E6-B465-4BA3-9086-35F9332F5787}" type="slidenum">
              <a:rPr lang="vi-VN" smtClean="0"/>
              <a:t>11</a:t>
            </a:fld>
            <a:endParaRPr lang="vi-VN"/>
          </a:p>
        </p:txBody>
      </p:sp>
    </p:spTree>
    <p:extLst>
      <p:ext uri="{BB962C8B-B14F-4D97-AF65-F5344CB8AC3E}">
        <p14:creationId xmlns:p14="http://schemas.microsoft.com/office/powerpoint/2010/main" val="720460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F831B-61F2-0D0E-8F5C-E5C535E05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8990B-9294-B5D5-928D-BFC1B2E1B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975E9-5047-2905-1205-19C904E0791F}"/>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97965A62-5C96-EDB3-E8D3-4A8AE6168C6C}"/>
              </a:ext>
            </a:extLst>
          </p:cNvPr>
          <p:cNvSpPr>
            <a:spLocks noGrp="1"/>
          </p:cNvSpPr>
          <p:nvPr>
            <p:ph type="sldNum" sz="quarter" idx="5"/>
          </p:nvPr>
        </p:nvSpPr>
        <p:spPr/>
        <p:txBody>
          <a:bodyPr/>
          <a:lstStyle/>
          <a:p>
            <a:fld id="{0E33E5E6-B465-4BA3-9086-35F9332F5787}" type="slidenum">
              <a:rPr lang="vi-VN" smtClean="0"/>
              <a:t>12</a:t>
            </a:fld>
            <a:endParaRPr lang="vi-VN"/>
          </a:p>
        </p:txBody>
      </p:sp>
    </p:spTree>
    <p:extLst>
      <p:ext uri="{BB962C8B-B14F-4D97-AF65-F5344CB8AC3E}">
        <p14:creationId xmlns:p14="http://schemas.microsoft.com/office/powerpoint/2010/main" val="4044386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F3C89-2BB0-35B3-4DF6-2A48EF51C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2A28F-3CAE-C9EF-599F-C304886E5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6A8E9-4EBB-9ED7-D712-4180768FD8AA}"/>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03D84CB4-5BBC-7DB1-ED39-735EF7CA8A7F}"/>
              </a:ext>
            </a:extLst>
          </p:cNvPr>
          <p:cNvSpPr>
            <a:spLocks noGrp="1"/>
          </p:cNvSpPr>
          <p:nvPr>
            <p:ph type="sldNum" sz="quarter" idx="5"/>
          </p:nvPr>
        </p:nvSpPr>
        <p:spPr/>
        <p:txBody>
          <a:bodyPr/>
          <a:lstStyle/>
          <a:p>
            <a:fld id="{0E33E5E6-B465-4BA3-9086-35F9332F5787}" type="slidenum">
              <a:rPr lang="vi-VN" smtClean="0"/>
              <a:t>13</a:t>
            </a:fld>
            <a:endParaRPr lang="vi-VN"/>
          </a:p>
        </p:txBody>
      </p:sp>
    </p:spTree>
    <p:extLst>
      <p:ext uri="{BB962C8B-B14F-4D97-AF65-F5344CB8AC3E}">
        <p14:creationId xmlns:p14="http://schemas.microsoft.com/office/powerpoint/2010/main" val="4289927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49B8-18FF-A59E-3BCD-84FA386FA5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6FD6-EF23-56CE-28BF-B04215E1D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801DA-102A-3532-09E7-20446E6B15DC}"/>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D374498B-3228-9A7F-001C-14729FB0150F}"/>
              </a:ext>
            </a:extLst>
          </p:cNvPr>
          <p:cNvSpPr>
            <a:spLocks noGrp="1"/>
          </p:cNvSpPr>
          <p:nvPr>
            <p:ph type="sldNum" sz="quarter" idx="5"/>
          </p:nvPr>
        </p:nvSpPr>
        <p:spPr/>
        <p:txBody>
          <a:bodyPr/>
          <a:lstStyle/>
          <a:p>
            <a:fld id="{0E33E5E6-B465-4BA3-9086-35F9332F5787}" type="slidenum">
              <a:rPr lang="vi-VN" smtClean="0"/>
              <a:t>14</a:t>
            </a:fld>
            <a:endParaRPr lang="vi-VN"/>
          </a:p>
        </p:txBody>
      </p:sp>
    </p:spTree>
    <p:extLst>
      <p:ext uri="{BB962C8B-B14F-4D97-AF65-F5344CB8AC3E}">
        <p14:creationId xmlns:p14="http://schemas.microsoft.com/office/powerpoint/2010/main" val="3851070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D2FF-2995-7BEA-68D9-D556FB1D3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3490C-64FA-C90E-3FD0-8C853F999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AB350-92E6-E0B5-961E-BA8541CF3777}"/>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2242D171-91D2-73DB-7710-60122A8DBA34}"/>
              </a:ext>
            </a:extLst>
          </p:cNvPr>
          <p:cNvSpPr>
            <a:spLocks noGrp="1"/>
          </p:cNvSpPr>
          <p:nvPr>
            <p:ph type="sldNum" sz="quarter" idx="5"/>
          </p:nvPr>
        </p:nvSpPr>
        <p:spPr/>
        <p:txBody>
          <a:bodyPr/>
          <a:lstStyle/>
          <a:p>
            <a:fld id="{0E33E5E6-B465-4BA3-9086-35F9332F5787}" type="slidenum">
              <a:rPr lang="vi-VN" smtClean="0"/>
              <a:t>15</a:t>
            </a:fld>
            <a:endParaRPr lang="vi-VN"/>
          </a:p>
        </p:txBody>
      </p:sp>
    </p:spTree>
    <p:extLst>
      <p:ext uri="{BB962C8B-B14F-4D97-AF65-F5344CB8AC3E}">
        <p14:creationId xmlns:p14="http://schemas.microsoft.com/office/powerpoint/2010/main" val="3616483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07382-5B85-C0E5-D286-B88C938EF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43B8E-166B-4590-E1DE-A692C0E70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A0B3F-A451-4804-CAF0-24AA7E8F0756}"/>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E8CB2CF3-5629-126E-204F-7881E588FD24}"/>
              </a:ext>
            </a:extLst>
          </p:cNvPr>
          <p:cNvSpPr>
            <a:spLocks noGrp="1"/>
          </p:cNvSpPr>
          <p:nvPr>
            <p:ph type="sldNum" sz="quarter" idx="5"/>
          </p:nvPr>
        </p:nvSpPr>
        <p:spPr/>
        <p:txBody>
          <a:bodyPr/>
          <a:lstStyle/>
          <a:p>
            <a:fld id="{0E33E5E6-B465-4BA3-9086-35F9332F5787}" type="slidenum">
              <a:rPr lang="vi-VN" smtClean="0"/>
              <a:t>16</a:t>
            </a:fld>
            <a:endParaRPr lang="vi-VN"/>
          </a:p>
        </p:txBody>
      </p:sp>
    </p:spTree>
    <p:extLst>
      <p:ext uri="{BB962C8B-B14F-4D97-AF65-F5344CB8AC3E}">
        <p14:creationId xmlns:p14="http://schemas.microsoft.com/office/powerpoint/2010/main" val="3753818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FCE63-37AD-4C04-A2B9-5EFCEF7ED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19ABD8-F102-7B29-6502-8BF80B9D1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E7AA9-B5A7-E7FF-F60E-FE0C870C5F9B}"/>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CFA8394F-F845-57FC-E1DE-58665A7B37E5}"/>
              </a:ext>
            </a:extLst>
          </p:cNvPr>
          <p:cNvSpPr>
            <a:spLocks noGrp="1"/>
          </p:cNvSpPr>
          <p:nvPr>
            <p:ph type="sldNum" sz="quarter" idx="5"/>
          </p:nvPr>
        </p:nvSpPr>
        <p:spPr/>
        <p:txBody>
          <a:bodyPr/>
          <a:lstStyle/>
          <a:p>
            <a:fld id="{0E33E5E6-B465-4BA3-9086-35F9332F5787}" type="slidenum">
              <a:rPr lang="vi-VN" smtClean="0"/>
              <a:t>17</a:t>
            </a:fld>
            <a:endParaRPr lang="vi-VN"/>
          </a:p>
        </p:txBody>
      </p:sp>
    </p:spTree>
    <p:extLst>
      <p:ext uri="{BB962C8B-B14F-4D97-AF65-F5344CB8AC3E}">
        <p14:creationId xmlns:p14="http://schemas.microsoft.com/office/powerpoint/2010/main" val="3148351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4A519-FCA7-17FF-F47D-FB82670EA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73325-B96F-EF95-D15B-62640BC55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B716B-0BBD-9099-68FF-9DA31F7A7A15}"/>
              </a:ext>
            </a:extLst>
          </p:cNvPr>
          <p:cNvSpPr>
            <a:spLocks noGrp="1"/>
          </p:cNvSpPr>
          <p:nvPr>
            <p:ph type="body" idx="1"/>
          </p:nvPr>
        </p:nvSpPr>
        <p:spPr/>
        <p:txBody>
          <a:bodyPr/>
          <a:lstStyle/>
          <a:p>
            <a:r>
              <a:rPr lang="en-US" dirty="0"/>
              <a:t>Business task </a:t>
            </a:r>
            <a:r>
              <a:rPr lang="en-US" dirty="0" err="1"/>
              <a:t>là</a:t>
            </a:r>
            <a:r>
              <a:rPr lang="en-US" dirty="0"/>
              <a:t> </a:t>
            </a:r>
            <a:r>
              <a:rPr lang="en-US" dirty="0" err="1"/>
              <a:t>gì</a:t>
            </a:r>
            <a:br>
              <a:rPr lang="en-US" dirty="0"/>
            </a:br>
            <a:r>
              <a:rPr lang="en-US" dirty="0"/>
              <a:t>stake holder </a:t>
            </a:r>
            <a:r>
              <a:rPr lang="en-US" dirty="0" err="1"/>
              <a:t>là</a:t>
            </a:r>
            <a:r>
              <a:rPr lang="en-US" dirty="0"/>
              <a:t> ai</a:t>
            </a:r>
          </a:p>
          <a:p>
            <a:r>
              <a:rPr lang="en-US" dirty="0"/>
              <a:t>KPI </a:t>
            </a:r>
            <a:r>
              <a:rPr lang="en-US" dirty="0" err="1"/>
              <a:t>đo</a:t>
            </a:r>
            <a:r>
              <a:rPr lang="en-US" dirty="0"/>
              <a:t> </a:t>
            </a:r>
            <a:r>
              <a:rPr lang="en-US" dirty="0" err="1"/>
              <a:t>bằng</a:t>
            </a:r>
            <a:r>
              <a:rPr lang="en-US" dirty="0"/>
              <a:t> </a:t>
            </a:r>
            <a:r>
              <a:rPr lang="en-US" dirty="0" err="1"/>
              <a:t>gì</a:t>
            </a:r>
            <a:endParaRPr lang="vi-VN" dirty="0"/>
          </a:p>
        </p:txBody>
      </p:sp>
      <p:sp>
        <p:nvSpPr>
          <p:cNvPr id="4" name="Slide Number Placeholder 3">
            <a:extLst>
              <a:ext uri="{FF2B5EF4-FFF2-40B4-BE49-F238E27FC236}">
                <a16:creationId xmlns:a16="http://schemas.microsoft.com/office/drawing/2014/main" id="{4F68AFAE-D057-224F-AED3-CA1C5B4475D0}"/>
              </a:ext>
            </a:extLst>
          </p:cNvPr>
          <p:cNvSpPr>
            <a:spLocks noGrp="1"/>
          </p:cNvSpPr>
          <p:nvPr>
            <p:ph type="sldNum" sz="quarter" idx="5"/>
          </p:nvPr>
        </p:nvSpPr>
        <p:spPr/>
        <p:txBody>
          <a:bodyPr/>
          <a:lstStyle/>
          <a:p>
            <a:fld id="{0E33E5E6-B465-4BA3-9086-35F9332F5787}" type="slidenum">
              <a:rPr lang="vi-VN" smtClean="0"/>
              <a:t>18</a:t>
            </a:fld>
            <a:endParaRPr lang="vi-VN"/>
          </a:p>
        </p:txBody>
      </p:sp>
    </p:spTree>
    <p:extLst>
      <p:ext uri="{BB962C8B-B14F-4D97-AF65-F5344CB8AC3E}">
        <p14:creationId xmlns:p14="http://schemas.microsoft.com/office/powerpoint/2010/main" val="2427425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BA19-80DF-9E09-F298-B035BA63E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0215B-092B-ECC4-7E51-87F38190F9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D3479-5015-285F-8EEE-4ACE44E3617A}"/>
              </a:ext>
            </a:extLst>
          </p:cNvPr>
          <p:cNvSpPr>
            <a:spLocks noGrp="1"/>
          </p:cNvSpPr>
          <p:nvPr>
            <p:ph type="body" idx="1"/>
          </p:nvPr>
        </p:nvSpPr>
        <p:spPr/>
        <p:txBody>
          <a:bodyPr/>
          <a:lstStyle/>
          <a:p>
            <a:r>
              <a:rPr lang="en-US" dirty="0" err="1"/>
              <a:t>Nguồn</a:t>
            </a:r>
            <a:r>
              <a:rPr lang="en-US" dirty="0"/>
              <a:t> </a:t>
            </a:r>
            <a:r>
              <a:rPr lang="en-US" dirty="0" err="1"/>
              <a:t>dữ</a:t>
            </a:r>
            <a:r>
              <a:rPr lang="en-US" dirty="0"/>
              <a:t> </a:t>
            </a:r>
            <a:r>
              <a:rPr lang="en-US" dirty="0" err="1"/>
              <a:t>liệu</a:t>
            </a:r>
            <a:endParaRPr lang="en-US" dirty="0"/>
          </a:p>
          <a:p>
            <a:r>
              <a:rPr lang="en-US" dirty="0"/>
              <a:t>Định </a:t>
            </a:r>
            <a:r>
              <a:rPr lang="en-US" dirty="0" err="1"/>
              <a:t>dạng</a:t>
            </a:r>
            <a:endParaRPr lang="en-US" dirty="0"/>
          </a:p>
          <a:p>
            <a:r>
              <a:rPr lang="en-US" dirty="0"/>
              <a:t>Quyền </a:t>
            </a:r>
            <a:r>
              <a:rPr lang="en-US" dirty="0" err="1"/>
              <a:t>sử</a:t>
            </a:r>
            <a:r>
              <a:rPr lang="en-US" dirty="0"/>
              <a:t> </a:t>
            </a:r>
            <a:r>
              <a:rPr lang="en-US" dirty="0" err="1"/>
              <a:t>dụng</a:t>
            </a:r>
            <a:endParaRPr lang="en-US" dirty="0"/>
          </a:p>
          <a:p>
            <a:r>
              <a:rPr lang="en-US" dirty="0" err="1"/>
              <a:t>Thời</a:t>
            </a:r>
            <a:r>
              <a:rPr lang="en-US" dirty="0"/>
              <a:t> </a:t>
            </a:r>
            <a:r>
              <a:rPr lang="en-US" dirty="0" err="1"/>
              <a:t>gian</a:t>
            </a:r>
            <a:r>
              <a:rPr lang="en-US" dirty="0"/>
              <a:t> bao </a:t>
            </a:r>
            <a:r>
              <a:rPr lang="en-US" dirty="0" err="1"/>
              <a:t>phủ</a:t>
            </a:r>
            <a:endParaRPr lang="vi-VN" dirty="0"/>
          </a:p>
        </p:txBody>
      </p:sp>
      <p:sp>
        <p:nvSpPr>
          <p:cNvPr id="4" name="Slide Number Placeholder 3">
            <a:extLst>
              <a:ext uri="{FF2B5EF4-FFF2-40B4-BE49-F238E27FC236}">
                <a16:creationId xmlns:a16="http://schemas.microsoft.com/office/drawing/2014/main" id="{B9C3C038-3623-CC22-2C74-82DE7658FCE5}"/>
              </a:ext>
            </a:extLst>
          </p:cNvPr>
          <p:cNvSpPr>
            <a:spLocks noGrp="1"/>
          </p:cNvSpPr>
          <p:nvPr>
            <p:ph type="sldNum" sz="quarter" idx="5"/>
          </p:nvPr>
        </p:nvSpPr>
        <p:spPr/>
        <p:txBody>
          <a:bodyPr/>
          <a:lstStyle/>
          <a:p>
            <a:fld id="{0E33E5E6-B465-4BA3-9086-35F9332F5787}" type="slidenum">
              <a:rPr lang="vi-VN" smtClean="0"/>
              <a:t>19</a:t>
            </a:fld>
            <a:endParaRPr lang="vi-VN"/>
          </a:p>
        </p:txBody>
      </p:sp>
    </p:spTree>
    <p:extLst>
      <p:ext uri="{BB962C8B-B14F-4D97-AF65-F5344CB8AC3E}">
        <p14:creationId xmlns:p14="http://schemas.microsoft.com/office/powerpoint/2010/main" val="102228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206A7-FDE0-45A5-5700-B73167F2D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0F497-E51A-569F-8BE6-556B84ECE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723C7-0F21-47A2-D1AF-62F629EB2166}"/>
              </a:ext>
            </a:extLst>
          </p:cNvPr>
          <p:cNvSpPr>
            <a:spLocks noGrp="1"/>
          </p:cNvSpPr>
          <p:nvPr>
            <p:ph type="body" idx="1"/>
          </p:nvPr>
        </p:nvSpPr>
        <p:spPr/>
        <p:txBody>
          <a:bodyPr/>
          <a:lstStyle/>
          <a:p>
            <a:r>
              <a:rPr lang="en-US" dirty="0"/>
              <a:t>Clean</a:t>
            </a:r>
          </a:p>
          <a:p>
            <a:r>
              <a:rPr lang="en-US" dirty="0"/>
              <a:t>Remove duplicates</a:t>
            </a:r>
          </a:p>
          <a:p>
            <a:r>
              <a:rPr lang="en-US" dirty="0"/>
              <a:t>Handle missing value</a:t>
            </a:r>
          </a:p>
          <a:p>
            <a:r>
              <a:rPr lang="en-US" dirty="0"/>
              <a:t>Format </a:t>
            </a:r>
            <a:r>
              <a:rPr lang="en-US" dirty="0" err="1"/>
              <a:t>lại</a:t>
            </a:r>
            <a:r>
              <a:rPr lang="en-US" dirty="0"/>
              <a:t> </a:t>
            </a:r>
            <a:r>
              <a:rPr lang="en-US" dirty="0" err="1"/>
              <a:t>dữ</a:t>
            </a:r>
            <a:r>
              <a:rPr lang="en-US" dirty="0"/>
              <a:t> </a:t>
            </a:r>
            <a:r>
              <a:rPr lang="en-US" dirty="0" err="1"/>
              <a:t>liệu</a:t>
            </a:r>
            <a:endParaRPr lang="en-US" dirty="0"/>
          </a:p>
          <a:p>
            <a:endParaRPr lang="vi-VN" dirty="0"/>
          </a:p>
        </p:txBody>
      </p:sp>
      <p:sp>
        <p:nvSpPr>
          <p:cNvPr id="4" name="Slide Number Placeholder 3">
            <a:extLst>
              <a:ext uri="{FF2B5EF4-FFF2-40B4-BE49-F238E27FC236}">
                <a16:creationId xmlns:a16="http://schemas.microsoft.com/office/drawing/2014/main" id="{35DCAC61-ABC9-948F-A4CF-897F95AE82E2}"/>
              </a:ext>
            </a:extLst>
          </p:cNvPr>
          <p:cNvSpPr>
            <a:spLocks noGrp="1"/>
          </p:cNvSpPr>
          <p:nvPr>
            <p:ph type="sldNum" sz="quarter" idx="5"/>
          </p:nvPr>
        </p:nvSpPr>
        <p:spPr/>
        <p:txBody>
          <a:bodyPr/>
          <a:lstStyle/>
          <a:p>
            <a:fld id="{0E33E5E6-B465-4BA3-9086-35F9332F5787}" type="slidenum">
              <a:rPr lang="vi-VN" smtClean="0"/>
              <a:t>20</a:t>
            </a:fld>
            <a:endParaRPr lang="vi-VN"/>
          </a:p>
        </p:txBody>
      </p:sp>
    </p:spTree>
    <p:extLst>
      <p:ext uri="{BB962C8B-B14F-4D97-AF65-F5344CB8AC3E}">
        <p14:creationId xmlns:p14="http://schemas.microsoft.com/office/powerpoint/2010/main" val="2094605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24DEB-B3E9-7C4F-07A5-E0DA1DD44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24C8D-7519-4905-C5CD-0F60784D9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230AE-C3D3-BBE7-6433-5D952C06BD45}"/>
              </a:ext>
            </a:extLst>
          </p:cNvPr>
          <p:cNvSpPr>
            <a:spLocks noGrp="1"/>
          </p:cNvSpPr>
          <p:nvPr>
            <p:ph type="body" idx="1"/>
          </p:nvPr>
        </p:nvSpPr>
        <p:spPr/>
        <p:txBody>
          <a:bodyPr/>
          <a:lstStyle/>
          <a:p>
            <a:r>
              <a:rPr lang="en-US" dirty="0"/>
              <a:t>Mean, Median, sigma</a:t>
            </a:r>
          </a:p>
          <a:p>
            <a:r>
              <a:rPr lang="en-US" dirty="0"/>
              <a:t>Histogram</a:t>
            </a:r>
          </a:p>
          <a:p>
            <a:r>
              <a:rPr lang="en-US" dirty="0"/>
              <a:t>So </a:t>
            </a:r>
            <a:r>
              <a:rPr lang="en-US" dirty="0" err="1"/>
              <a:t>sánh</a:t>
            </a:r>
            <a:r>
              <a:rPr lang="en-US" dirty="0"/>
              <a:t> </a:t>
            </a:r>
            <a:r>
              <a:rPr lang="en-US" dirty="0" err="1"/>
              <a:t>nhóm</a:t>
            </a:r>
            <a:endParaRPr lang="en-US" dirty="0"/>
          </a:p>
          <a:p>
            <a:r>
              <a:rPr lang="en-US" dirty="0"/>
              <a:t>Trend</a:t>
            </a:r>
            <a:endParaRPr lang="vi-VN" dirty="0"/>
          </a:p>
        </p:txBody>
      </p:sp>
      <p:sp>
        <p:nvSpPr>
          <p:cNvPr id="4" name="Slide Number Placeholder 3">
            <a:extLst>
              <a:ext uri="{FF2B5EF4-FFF2-40B4-BE49-F238E27FC236}">
                <a16:creationId xmlns:a16="http://schemas.microsoft.com/office/drawing/2014/main" id="{B85462D2-7253-AA33-030B-9C9C8FE8BC76}"/>
              </a:ext>
            </a:extLst>
          </p:cNvPr>
          <p:cNvSpPr>
            <a:spLocks noGrp="1"/>
          </p:cNvSpPr>
          <p:nvPr>
            <p:ph type="sldNum" sz="quarter" idx="5"/>
          </p:nvPr>
        </p:nvSpPr>
        <p:spPr/>
        <p:txBody>
          <a:bodyPr/>
          <a:lstStyle/>
          <a:p>
            <a:fld id="{0E33E5E6-B465-4BA3-9086-35F9332F5787}" type="slidenum">
              <a:rPr lang="vi-VN" smtClean="0"/>
              <a:t>21</a:t>
            </a:fld>
            <a:endParaRPr lang="vi-VN"/>
          </a:p>
        </p:txBody>
      </p:sp>
    </p:spTree>
    <p:extLst>
      <p:ext uri="{BB962C8B-B14F-4D97-AF65-F5344CB8AC3E}">
        <p14:creationId xmlns:p14="http://schemas.microsoft.com/office/powerpoint/2010/main" val="23997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8754-1FC6-17A4-8C22-7E03D89E7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E9EBA-8C60-A66F-BA56-09D5F0905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AF96A-6EEC-D31C-17EA-ABA38864D5B3}"/>
              </a:ext>
            </a:extLst>
          </p:cNvPr>
          <p:cNvSpPr>
            <a:spLocks noGrp="1"/>
          </p:cNvSpPr>
          <p:nvPr>
            <p:ph type="body" idx="1"/>
          </p:nvPr>
        </p:nvSpPr>
        <p:spPr/>
        <p:txBody>
          <a:bodyPr/>
          <a:lstStyle/>
          <a:p>
            <a:r>
              <a:rPr lang="en-US" dirty="0" err="1"/>
              <a:t>Visualzation</a:t>
            </a:r>
            <a:endParaRPr lang="en-US" dirty="0"/>
          </a:p>
          <a:p>
            <a:r>
              <a:rPr lang="en-US" dirty="0"/>
              <a:t>Dashboard</a:t>
            </a:r>
          </a:p>
          <a:p>
            <a:r>
              <a:rPr lang="en-US" dirty="0"/>
              <a:t>Summary</a:t>
            </a:r>
            <a:endParaRPr lang="vi-VN" dirty="0"/>
          </a:p>
        </p:txBody>
      </p:sp>
      <p:sp>
        <p:nvSpPr>
          <p:cNvPr id="4" name="Slide Number Placeholder 3">
            <a:extLst>
              <a:ext uri="{FF2B5EF4-FFF2-40B4-BE49-F238E27FC236}">
                <a16:creationId xmlns:a16="http://schemas.microsoft.com/office/drawing/2014/main" id="{67A37415-95DD-2123-8E39-E58EB76BE12B}"/>
              </a:ext>
            </a:extLst>
          </p:cNvPr>
          <p:cNvSpPr>
            <a:spLocks noGrp="1"/>
          </p:cNvSpPr>
          <p:nvPr>
            <p:ph type="sldNum" sz="quarter" idx="5"/>
          </p:nvPr>
        </p:nvSpPr>
        <p:spPr/>
        <p:txBody>
          <a:bodyPr/>
          <a:lstStyle/>
          <a:p>
            <a:fld id="{0E33E5E6-B465-4BA3-9086-35F9332F5787}" type="slidenum">
              <a:rPr lang="vi-VN" smtClean="0"/>
              <a:t>22</a:t>
            </a:fld>
            <a:endParaRPr lang="vi-VN"/>
          </a:p>
        </p:txBody>
      </p:sp>
    </p:spTree>
    <p:extLst>
      <p:ext uri="{BB962C8B-B14F-4D97-AF65-F5344CB8AC3E}">
        <p14:creationId xmlns:p14="http://schemas.microsoft.com/office/powerpoint/2010/main" val="16371802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3888E-F10D-2B36-786F-CB4ACDF4A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46BA7-A5BD-A6F6-827B-FF7F83605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40C8D-6D03-AE7A-50FC-855C2F6EF993}"/>
              </a:ext>
            </a:extLst>
          </p:cNvPr>
          <p:cNvSpPr>
            <a:spLocks noGrp="1"/>
          </p:cNvSpPr>
          <p:nvPr>
            <p:ph type="body" idx="1"/>
          </p:nvPr>
        </p:nvSpPr>
        <p:spPr/>
        <p:txBody>
          <a:bodyPr/>
          <a:lstStyle/>
          <a:p>
            <a:r>
              <a:rPr lang="en-US" dirty="0"/>
              <a:t>Ra </a:t>
            </a:r>
            <a:r>
              <a:rPr lang="en-US" dirty="0" err="1"/>
              <a:t>quyết</a:t>
            </a:r>
            <a:r>
              <a:rPr lang="en-US" dirty="0"/>
              <a:t> </a:t>
            </a:r>
            <a:r>
              <a:rPr lang="en-US" dirty="0" err="1"/>
              <a:t>định</a:t>
            </a:r>
            <a:endParaRPr lang="vi-VN" dirty="0"/>
          </a:p>
        </p:txBody>
      </p:sp>
      <p:sp>
        <p:nvSpPr>
          <p:cNvPr id="4" name="Slide Number Placeholder 3">
            <a:extLst>
              <a:ext uri="{FF2B5EF4-FFF2-40B4-BE49-F238E27FC236}">
                <a16:creationId xmlns:a16="http://schemas.microsoft.com/office/drawing/2014/main" id="{533DF467-AE03-CBAC-709A-A73FD8CB4C87}"/>
              </a:ext>
            </a:extLst>
          </p:cNvPr>
          <p:cNvSpPr>
            <a:spLocks noGrp="1"/>
          </p:cNvSpPr>
          <p:nvPr>
            <p:ph type="sldNum" sz="quarter" idx="5"/>
          </p:nvPr>
        </p:nvSpPr>
        <p:spPr/>
        <p:txBody>
          <a:bodyPr/>
          <a:lstStyle/>
          <a:p>
            <a:fld id="{0E33E5E6-B465-4BA3-9086-35F9332F5787}" type="slidenum">
              <a:rPr lang="vi-VN" smtClean="0"/>
              <a:t>23</a:t>
            </a:fld>
            <a:endParaRPr lang="vi-VN"/>
          </a:p>
        </p:txBody>
      </p:sp>
    </p:spTree>
    <p:extLst>
      <p:ext uri="{BB962C8B-B14F-4D97-AF65-F5344CB8AC3E}">
        <p14:creationId xmlns:p14="http://schemas.microsoft.com/office/powerpoint/2010/main" val="3831422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2DD18-B666-5D4A-5E54-9784B030F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A7DC-CE29-0D19-613B-B5A00B328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0D8D7-FEC3-3554-1490-77D8F2D565D7}"/>
              </a:ext>
            </a:extLst>
          </p:cNvPr>
          <p:cNvSpPr>
            <a:spLocks noGrp="1"/>
          </p:cNvSpPr>
          <p:nvPr>
            <p:ph type="body" idx="1"/>
          </p:nvPr>
        </p:nvSpPr>
        <p:spPr/>
        <p:txBody>
          <a:bodyPr/>
          <a:lstStyle/>
          <a:p>
            <a:r>
              <a:rPr lang="en-US" dirty="0" err="1"/>
              <a:t>Đo</a:t>
            </a:r>
            <a:r>
              <a:rPr lang="en-US" dirty="0"/>
              <a:t> </a:t>
            </a:r>
            <a:r>
              <a:rPr lang="en-US" dirty="0" err="1"/>
              <a:t>kết</a:t>
            </a:r>
            <a:r>
              <a:rPr lang="en-US" dirty="0"/>
              <a:t> </a:t>
            </a:r>
            <a:r>
              <a:rPr lang="en-US" dirty="0" err="1"/>
              <a:t>quả</a:t>
            </a:r>
            <a:endParaRPr lang="en-US" dirty="0"/>
          </a:p>
          <a:p>
            <a:r>
              <a:rPr lang="en-US" dirty="0" err="1"/>
              <a:t>Ghi</a:t>
            </a:r>
            <a:r>
              <a:rPr lang="en-US" dirty="0"/>
              <a:t> </a:t>
            </a:r>
            <a:r>
              <a:rPr lang="en-US" dirty="0" err="1"/>
              <a:t>nhận</a:t>
            </a:r>
            <a:r>
              <a:rPr lang="en-US" dirty="0"/>
              <a:t> </a:t>
            </a:r>
            <a:r>
              <a:rPr lang="en-US" dirty="0" err="1"/>
              <a:t>sai</a:t>
            </a:r>
            <a:r>
              <a:rPr lang="en-US" dirty="0"/>
              <a:t> </a:t>
            </a:r>
            <a:r>
              <a:rPr lang="en-US" dirty="0" err="1"/>
              <a:t>lệch</a:t>
            </a:r>
            <a:endParaRPr lang="en-US" dirty="0"/>
          </a:p>
          <a:p>
            <a:r>
              <a:rPr lang="en-US" dirty="0" err="1"/>
              <a:t>Cải</a:t>
            </a:r>
            <a:r>
              <a:rPr lang="en-US" dirty="0"/>
              <a:t> </a:t>
            </a:r>
            <a:r>
              <a:rPr lang="en-US" dirty="0" err="1"/>
              <a:t>tiến</a:t>
            </a:r>
            <a:r>
              <a:rPr lang="en-US" dirty="0"/>
              <a:t> </a:t>
            </a:r>
            <a:r>
              <a:rPr lang="en-US" dirty="0" err="1"/>
              <a:t>quy</a:t>
            </a:r>
            <a:r>
              <a:rPr lang="en-US" dirty="0"/>
              <a:t> </a:t>
            </a:r>
            <a:r>
              <a:rPr lang="en-US" dirty="0" err="1"/>
              <a:t>trình</a:t>
            </a:r>
            <a:endParaRPr lang="vi-VN" dirty="0"/>
          </a:p>
        </p:txBody>
      </p:sp>
      <p:sp>
        <p:nvSpPr>
          <p:cNvPr id="4" name="Slide Number Placeholder 3">
            <a:extLst>
              <a:ext uri="{FF2B5EF4-FFF2-40B4-BE49-F238E27FC236}">
                <a16:creationId xmlns:a16="http://schemas.microsoft.com/office/drawing/2014/main" id="{71F16D91-4DFF-9262-0F26-E90A015FBB18}"/>
              </a:ext>
            </a:extLst>
          </p:cNvPr>
          <p:cNvSpPr>
            <a:spLocks noGrp="1"/>
          </p:cNvSpPr>
          <p:nvPr>
            <p:ph type="sldNum" sz="quarter" idx="5"/>
          </p:nvPr>
        </p:nvSpPr>
        <p:spPr/>
        <p:txBody>
          <a:bodyPr/>
          <a:lstStyle/>
          <a:p>
            <a:fld id="{0E33E5E6-B465-4BA3-9086-35F9332F5787}" type="slidenum">
              <a:rPr lang="vi-VN" smtClean="0"/>
              <a:t>24</a:t>
            </a:fld>
            <a:endParaRPr lang="vi-VN"/>
          </a:p>
        </p:txBody>
      </p:sp>
    </p:spTree>
    <p:extLst>
      <p:ext uri="{BB962C8B-B14F-4D97-AF65-F5344CB8AC3E}">
        <p14:creationId xmlns:p14="http://schemas.microsoft.com/office/powerpoint/2010/main" val="41829979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vi-VN"/>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vi-VN"/>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vi-V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2" name="Slide Number Placeholder 5"/>
          <p:cNvSpPr>
            <a:spLocks noGrp="1"/>
          </p:cNvSpPr>
          <p:nvPr>
            <p:ph type="sldNum" sz="quarter" idx="12"/>
          </p:nvPr>
        </p:nvSpPr>
        <p:spPr>
          <a:xfrm>
            <a:off x="10352540" y="295729"/>
            <a:ext cx="838199" cy="767687"/>
          </a:xfrm>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1148370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2218118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4187633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1F6BC1-681B-42BC-84D0-DE4801BFEFAA}" type="datetimeFigureOut">
              <a:rPr lang="vi-VN" smtClean="0"/>
              <a:t>07/01/2026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2843498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1F6BC1-681B-42BC-84D0-DE4801BFEFAA}" type="datetimeFigureOut">
              <a:rPr lang="vi-VN" smtClean="0"/>
              <a:t>07/01/2026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3608719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1F6BC1-681B-42BC-84D0-DE4801BFEFAA}" type="datetimeFigureOut">
              <a:rPr lang="vi-VN" smtClean="0"/>
              <a:t>07/01/2026</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3552900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1F6BC1-681B-42BC-84D0-DE4801BFEFAA}" type="datetimeFigureOut">
              <a:rPr lang="vi-VN" smtClean="0"/>
              <a:t>07/01/2026</a:t>
            </a:fld>
            <a:endParaRPr lang="vi-VN"/>
          </a:p>
        </p:txBody>
      </p:sp>
      <p:sp>
        <p:nvSpPr>
          <p:cNvPr id="3" name="Footer Placeholder 2"/>
          <p:cNvSpPr>
            <a:spLocks noGrp="1"/>
          </p:cNvSpPr>
          <p:nvPr>
            <p:ph type="ftr" sz="quarter" idx="11"/>
          </p:nvPr>
        </p:nvSpPr>
        <p:spPr/>
        <p:txBody>
          <a:bodyPr/>
          <a:lstStyle/>
          <a:p>
            <a:endParaRPr lang="vi-V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3007115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F6BC1-681B-42BC-84D0-DE4801BFEFAA}" type="datetimeFigureOut">
              <a:rPr lang="vi-VN" smtClean="0"/>
              <a:t>07/01/2026</a:t>
            </a:fld>
            <a:endParaRPr lang="vi-VN"/>
          </a:p>
        </p:txBody>
      </p:sp>
      <p:sp>
        <p:nvSpPr>
          <p:cNvPr id="6" name="Footer Placeholder 5"/>
          <p:cNvSpPr>
            <a:spLocks noGrp="1"/>
          </p:cNvSpPr>
          <p:nvPr>
            <p:ph type="ftr" sz="quarter" idx="11"/>
          </p:nvPr>
        </p:nvSpPr>
        <p:spPr/>
        <p:txBody>
          <a:bodyPr/>
          <a:lstStyle/>
          <a:p>
            <a:endParaRPr lang="vi-V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1322514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F6BC1-681B-42BC-84D0-DE4801BFEFAA}" type="datetimeFigureOut">
              <a:rPr lang="vi-VN" smtClean="0"/>
              <a:t>07/01/2026</a:t>
            </a:fld>
            <a:endParaRPr lang="vi-VN"/>
          </a:p>
        </p:txBody>
      </p:sp>
      <p:sp>
        <p:nvSpPr>
          <p:cNvPr id="6" name="Footer Placeholder 5"/>
          <p:cNvSpPr>
            <a:spLocks noGrp="1"/>
          </p:cNvSpPr>
          <p:nvPr>
            <p:ph type="ftr" sz="quarter" idx="11"/>
          </p:nvPr>
        </p:nvSpPr>
        <p:spPr/>
        <p:txBody>
          <a:bodyPr/>
          <a:lstStyle/>
          <a:p>
            <a:endParaRPr lang="vi-V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4050859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F6BC1-681B-42BC-84D0-DE4801BFEFAA}" type="datetimeFigureOut">
              <a:rPr lang="vi-VN" smtClean="0"/>
              <a:t>07/01/2026</a:t>
            </a:fld>
            <a:endParaRPr lang="vi-VN"/>
          </a:p>
        </p:txBody>
      </p:sp>
      <p:sp>
        <p:nvSpPr>
          <p:cNvPr id="6" name="Footer Placeholder 5"/>
          <p:cNvSpPr>
            <a:spLocks noGrp="1"/>
          </p:cNvSpPr>
          <p:nvPr>
            <p:ph type="ftr" sz="quarter" idx="11"/>
          </p:nvPr>
        </p:nvSpPr>
        <p:spPr/>
        <p:txBody>
          <a:bodyPr/>
          <a:lstStyle/>
          <a:p>
            <a:endParaRPr lang="vi-V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2972979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238342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4170060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4144853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1F6BC1-681B-42BC-84D0-DE4801BFEFAA}" type="datetimeFigureOut">
              <a:rPr lang="vi-VN" smtClean="0"/>
              <a:t>07/01/2026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3307950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1F6BC1-681B-42BC-84D0-DE4801BFEFAA}" type="datetimeFigureOut">
              <a:rPr lang="vi-VN" smtClean="0"/>
              <a:t>07/01/2026</a:t>
            </a:fld>
            <a:endParaRPr lang="vi-VN"/>
          </a:p>
        </p:txBody>
      </p:sp>
      <p:sp>
        <p:nvSpPr>
          <p:cNvPr id="8" name="Footer Placeholder 7"/>
          <p:cNvSpPr>
            <a:spLocks noGrp="1"/>
          </p:cNvSpPr>
          <p:nvPr>
            <p:ph type="ftr" sz="quarter" idx="11"/>
          </p:nvPr>
        </p:nvSpPr>
        <p:spPr>
          <a:xfrm>
            <a:off x="561111" y="6391838"/>
            <a:ext cx="3644282" cy="304801"/>
          </a:xfrm>
        </p:spPr>
        <p:txBody>
          <a:bodyPr/>
          <a:lstStyle/>
          <a:p>
            <a:endParaRPr lang="vi-VN"/>
          </a:p>
        </p:txBody>
      </p:sp>
      <p:sp>
        <p:nvSpPr>
          <p:cNvPr id="9" name="Slide Number Placeholder 8"/>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21560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41927442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C1F6BC1-681B-42BC-84D0-DE4801BFEFAA}" type="datetimeFigureOut">
              <a:rPr lang="vi-VN" smtClean="0"/>
              <a:t>07/01/2026</a:t>
            </a:fld>
            <a:endParaRPr lang="vi-VN"/>
          </a:p>
        </p:txBody>
      </p:sp>
      <p:sp>
        <p:nvSpPr>
          <p:cNvPr id="5" name="Footer Placeholder 4"/>
          <p:cNvSpPr>
            <a:spLocks noGrp="1"/>
          </p:cNvSpPr>
          <p:nvPr>
            <p:ph type="ftr" sz="quarter" idx="11"/>
          </p:nvPr>
        </p:nvSpPr>
        <p:spPr/>
        <p:txBody>
          <a:bodyPr/>
          <a:lstStyle/>
          <a:p>
            <a:endParaRPr lang="vi-V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9C135C8-7CB5-4DE2-BF73-20D3F4664829}" type="slidenum">
              <a:rPr lang="vi-VN" smtClean="0"/>
              <a:t>‹#›</a:t>
            </a:fld>
            <a:endParaRPr lang="vi-VN"/>
          </a:p>
        </p:txBody>
      </p:sp>
    </p:spTree>
    <p:extLst>
      <p:ext uri="{BB962C8B-B14F-4D97-AF65-F5344CB8AC3E}">
        <p14:creationId xmlns:p14="http://schemas.microsoft.com/office/powerpoint/2010/main" val="1341119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vi-VN"/>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vi-VN"/>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vi-VN"/>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vi-VN"/>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C1F6BC1-681B-42BC-84D0-DE4801BFEFAA}" type="datetimeFigureOut">
              <a:rPr lang="vi-VN" smtClean="0"/>
              <a:t>07/01/2026</a:t>
            </a:fld>
            <a:endParaRPr lang="vi-V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vi-V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9C135C8-7CB5-4DE2-BF73-20D3F4664829}" type="slidenum">
              <a:rPr lang="vi-VN" smtClean="0"/>
              <a:t>‹#›</a:t>
            </a:fld>
            <a:endParaRPr lang="vi-VN"/>
          </a:p>
        </p:txBody>
      </p:sp>
    </p:spTree>
    <p:extLst>
      <p:ext uri="{BB962C8B-B14F-4D97-AF65-F5344CB8AC3E}">
        <p14:creationId xmlns:p14="http://schemas.microsoft.com/office/powerpoint/2010/main" val="8825597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3294-537B-183F-C17B-A5113F4D45BE}"/>
              </a:ext>
            </a:extLst>
          </p:cNvPr>
          <p:cNvSpPr>
            <a:spLocks noGrp="1"/>
          </p:cNvSpPr>
          <p:nvPr>
            <p:ph type="ctrTitle"/>
          </p:nvPr>
        </p:nvSpPr>
        <p:spPr/>
        <p:txBody>
          <a:bodyPr/>
          <a:lstStyle/>
          <a:p>
            <a:r>
              <a:rPr lang="vi-VN" b="1" dirty="0"/>
              <a:t>Data Analyst</a:t>
            </a:r>
            <a:r>
              <a:rPr lang="vi-VN" dirty="0"/>
              <a:t> tại </a:t>
            </a:r>
            <a:r>
              <a:rPr lang="en-US" b="1" dirty="0"/>
              <a:t>NTJ</a:t>
            </a:r>
            <a:endParaRPr lang="vi-VN" dirty="0"/>
          </a:p>
        </p:txBody>
      </p:sp>
      <p:sp>
        <p:nvSpPr>
          <p:cNvPr id="3" name="Subtitle 2">
            <a:extLst>
              <a:ext uri="{FF2B5EF4-FFF2-40B4-BE49-F238E27FC236}">
                <a16:creationId xmlns:a16="http://schemas.microsoft.com/office/drawing/2014/main" id="{2B04F7AC-76FE-4523-B577-458AC47BA75A}"/>
              </a:ext>
            </a:extLst>
          </p:cNvPr>
          <p:cNvSpPr>
            <a:spLocks noGrp="1"/>
          </p:cNvSpPr>
          <p:nvPr>
            <p:ph type="subTitle" idx="1"/>
          </p:nvPr>
        </p:nvSpPr>
        <p:spPr/>
        <p:txBody>
          <a:bodyPr/>
          <a:lstStyle/>
          <a:p>
            <a:r>
              <a:rPr lang="en-US" dirty="0"/>
              <a:t>Bùi Trung Nguyên</a:t>
            </a:r>
            <a:endParaRPr lang="vi-VN" dirty="0"/>
          </a:p>
        </p:txBody>
      </p:sp>
    </p:spTree>
    <p:extLst>
      <p:ext uri="{BB962C8B-B14F-4D97-AF65-F5344CB8AC3E}">
        <p14:creationId xmlns:p14="http://schemas.microsoft.com/office/powerpoint/2010/main" val="1530904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1F24-B58F-E3BD-5DB9-F541617079A1}"/>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323AEF0D-BF13-A3C2-A49D-55197020BF63}"/>
              </a:ext>
            </a:extLst>
          </p:cNvPr>
          <p:cNvSpPr>
            <a:spLocks noGrp="1"/>
          </p:cNvSpPr>
          <p:nvPr>
            <p:ph idx="1"/>
          </p:nvPr>
        </p:nvSpPr>
        <p:spPr/>
        <p:txBody>
          <a:bodyPr>
            <a:normAutofit lnSpcReduction="10000"/>
          </a:bodyPr>
          <a:lstStyle/>
          <a:p>
            <a:r>
              <a:rPr lang="vi-VN" dirty="0"/>
              <a:t>công ty khách hàng có một vấn đề rất điển hình thế này mà tôi nghĩ data analyst có thể phối hợp giải quyết</a:t>
            </a:r>
          </a:p>
          <a:p>
            <a:pPr lvl="1"/>
            <a:r>
              <a:rPr lang="en-US" dirty="0"/>
              <a:t>Q</a:t>
            </a:r>
            <a:r>
              <a:rPr lang="vi-VN" dirty="0"/>
              <a:t>uy định nội bộ về phòng chống rửa tiền có nội dung không đầy đủ, vi phạm quy định tại khoản 1 Điều 24 Luật PCRT và Thông tư số 09/2023/TT-</a:t>
            </a:r>
            <a:r>
              <a:rPr lang="el-GR" dirty="0"/>
              <a:t>ΝΗΝΝ.</a:t>
            </a:r>
          </a:p>
          <a:p>
            <a:pPr lvl="1"/>
            <a:r>
              <a:rPr lang="en-US" dirty="0"/>
              <a:t>K</a:t>
            </a:r>
            <a:r>
              <a:rPr lang="vi-VN" dirty="0"/>
              <a:t>hông thu thập thông tin nhận biết khách hàng đối với 99 giao dịch, vi phạm quy định tại của Luật PCRT và quy định tại khoản 4 Điều 6 Nghị định số 19/2023/NĐ-CP.</a:t>
            </a:r>
          </a:p>
          <a:p>
            <a:pPr lvl="1"/>
            <a:r>
              <a:rPr lang="en-US" dirty="0"/>
              <a:t>T</a:t>
            </a:r>
            <a:r>
              <a:rPr lang="vi-VN" dirty="0"/>
              <a:t>hu thập không đầy đủ thông tin nhận biết khách hàng đối với 1.563 giao dịch, vi phạm quy định tại Điều 9, Điều 10 Luật PCRT và khoản 4 Điều 6 và Điều 7 Nghị định số 19/2023/NĐ-CP.</a:t>
            </a:r>
          </a:p>
          <a:p>
            <a:pPr lvl="1"/>
            <a:r>
              <a:rPr lang="en-US" dirty="0"/>
              <a:t>K</a:t>
            </a:r>
            <a:r>
              <a:rPr lang="vi-VN" dirty="0"/>
              <a:t>hông thực hiện việc phân loại khách hàng theo mức độ rủi ro về rửa tiền, không xây dựng hệ thống quản lý rủi ro để xác định khách hàng nước ngoài là cá nhân có ảnh hưởng chính trị.</a:t>
            </a:r>
          </a:p>
          <a:p>
            <a:endParaRPr lang="vi-VN" dirty="0"/>
          </a:p>
        </p:txBody>
      </p:sp>
    </p:spTree>
    <p:extLst>
      <p:ext uri="{BB962C8B-B14F-4D97-AF65-F5344CB8AC3E}">
        <p14:creationId xmlns:p14="http://schemas.microsoft.com/office/powerpoint/2010/main" val="22011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77F5-27F2-C0F6-4CA8-1ED691D1B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B50F8-6338-9072-82AA-9A1A030BDE53}"/>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030EB162-0F3A-48B0-4B8F-573A6D623295}"/>
              </a:ext>
            </a:extLst>
          </p:cNvPr>
          <p:cNvSpPr>
            <a:spLocks noGrp="1"/>
          </p:cNvSpPr>
          <p:nvPr>
            <p:ph idx="1"/>
          </p:nvPr>
        </p:nvSpPr>
        <p:spPr/>
        <p:txBody>
          <a:bodyPr>
            <a:normAutofit fontScale="92500" lnSpcReduction="20000"/>
          </a:bodyPr>
          <a:lstStyle/>
          <a:p>
            <a:r>
              <a:rPr lang="vi-VN" dirty="0"/>
              <a:t>công ty khách hàng có một vấn đề rất điển hình thế này mà tôi nghĩ data analyst có thể phối hợp giải quyết</a:t>
            </a:r>
          </a:p>
          <a:p>
            <a:pPr lvl="1"/>
            <a:r>
              <a:rPr lang="vi-VN" dirty="0"/>
              <a:t>Không thực hiện báo cáo đối với 1.662 giao dịch có giá trị lớn, vi phạm quy định tại Điều 6, Điều 10 Thông tư số 09/2023/TT-NHNN; Điều 25 Luật PCRT; Điều 3 Quyết định số 11/2023/QĐ-TTg ngày 27/4/2023 của Thủ tướng Chính phủ quy định mức giao dịch có giá trị lớn phải báo cáo.</a:t>
            </a:r>
          </a:p>
          <a:p>
            <a:pPr lvl="1"/>
            <a:r>
              <a:rPr lang="vi-VN" dirty="0"/>
              <a:t>không thực hiện đánh giá rủi ro về rửa tiền và chưa thực hiện việc lưu trữ thông tin, hồ sơ, tài liệu về nhận biết khách hàng; kết quả phân tích, đánh giá của đối tượng báo cáo đối với khách hàng, giao dịch phải báo cáo theo quy định.</a:t>
            </a:r>
          </a:p>
          <a:p>
            <a:pPr lvl="1"/>
            <a:r>
              <a:rPr lang="vi-VN" dirty="0"/>
              <a:t>nội dung quy định nội bộ về phòng chống rửa tiền của công ty chưa cụ thể về việc nhận biết thông tin khách hàng đối với khách hàng cá nhân là người ngoại quốc, về xác định chủ sở hữu hưởng lợi.</a:t>
            </a:r>
          </a:p>
          <a:p>
            <a:pPr lvl="1"/>
            <a:r>
              <a:rPr lang="vi-VN" dirty="0"/>
              <a:t>một số bảng kê mua bán hàng hóa do công ty lập chưa rõ thông tin người bán, một số giao dịch theo chứng từ do công ty lập không đúng với thực tế phát sinh.</a:t>
            </a:r>
          </a:p>
          <a:p>
            <a:endParaRPr lang="vi-VN" dirty="0"/>
          </a:p>
        </p:txBody>
      </p:sp>
    </p:spTree>
    <p:extLst>
      <p:ext uri="{BB962C8B-B14F-4D97-AF65-F5344CB8AC3E}">
        <p14:creationId xmlns:p14="http://schemas.microsoft.com/office/powerpoint/2010/main" val="88910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2F1DB-0893-04D5-3DCA-96CDA0295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22B25-8E3D-1346-BC49-40CC4F7D5FCD}"/>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CF9BAD53-885F-1683-009D-6F0860AA3D72}"/>
              </a:ext>
            </a:extLst>
          </p:cNvPr>
          <p:cNvSpPr>
            <a:spLocks noGrp="1"/>
          </p:cNvSpPr>
          <p:nvPr>
            <p:ph idx="1"/>
          </p:nvPr>
        </p:nvSpPr>
        <p:spPr/>
        <p:txBody>
          <a:bodyPr>
            <a:normAutofit/>
          </a:bodyPr>
          <a:lstStyle/>
          <a:p>
            <a:r>
              <a:rPr lang="vi-VN" dirty="0"/>
              <a:t>dẫn tới Quyết định xử phạt vi phạm hành chính với số tiền hơn 1 tỷ đồng về 4 hành vi. Cụ thể, </a:t>
            </a:r>
            <a:endParaRPr lang="en-US" dirty="0"/>
          </a:p>
          <a:p>
            <a:pPr lvl="1"/>
            <a:r>
              <a:rPr lang="vi-VN" dirty="0"/>
              <a:t>ban hành quy định nội bộ về phòng chống rửa tiền có nội dung không đầy đủ, </a:t>
            </a:r>
            <a:endParaRPr lang="en-US" dirty="0"/>
          </a:p>
          <a:p>
            <a:pPr lvl="1"/>
            <a:r>
              <a:rPr lang="vi-VN" dirty="0"/>
              <a:t>không thu thập, thu thập không đầy đủ thông tin nhận biết khách hàng, </a:t>
            </a:r>
            <a:endParaRPr lang="en-US" dirty="0"/>
          </a:p>
          <a:p>
            <a:pPr lvl="1"/>
            <a:r>
              <a:rPr lang="vi-VN" dirty="0"/>
              <a:t>không báo cáo giao dịch có giá trị lớn, </a:t>
            </a:r>
            <a:endParaRPr lang="en-US" dirty="0"/>
          </a:p>
          <a:p>
            <a:pPr lvl="1"/>
            <a:r>
              <a:rPr lang="vi-VN" dirty="0"/>
              <a:t>không thực hiện đánh giá rủi ro về rửa tiền.</a:t>
            </a:r>
          </a:p>
        </p:txBody>
      </p:sp>
    </p:spTree>
    <p:extLst>
      <p:ext uri="{BB962C8B-B14F-4D97-AF65-F5344CB8AC3E}">
        <p14:creationId xmlns:p14="http://schemas.microsoft.com/office/powerpoint/2010/main" val="59182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AB4B-A3D6-EB83-5FD5-D07145713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A370F-AAD3-9037-272A-95F4EE689D07}"/>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1370723E-E7B4-F1B1-69C1-B5885ACF25C7}"/>
              </a:ext>
            </a:extLst>
          </p:cNvPr>
          <p:cNvSpPr>
            <a:spLocks noGrp="1"/>
          </p:cNvSpPr>
          <p:nvPr>
            <p:ph idx="1"/>
          </p:nvPr>
        </p:nvSpPr>
        <p:spPr/>
        <p:txBody>
          <a:bodyPr>
            <a:normAutofit/>
          </a:bodyPr>
          <a:lstStyle/>
          <a:p>
            <a:r>
              <a:rPr lang="vi-VN" b="1" dirty="0"/>
              <a:t>Nhận biết khách hàng (KYC) kém</a:t>
            </a:r>
          </a:p>
          <a:p>
            <a:pPr lvl="1"/>
            <a:r>
              <a:rPr lang="vi-VN" dirty="0"/>
              <a:t>Không thu thập / thu thập thiếu → </a:t>
            </a:r>
            <a:r>
              <a:rPr lang="vi-VN" b="1" dirty="0"/>
              <a:t>data completeness = thảm họa</a:t>
            </a:r>
            <a:endParaRPr lang="vi-VN" dirty="0"/>
          </a:p>
          <a:p>
            <a:pPr lvl="1"/>
            <a:r>
              <a:rPr lang="vi-VN" dirty="0"/>
              <a:t>Không phân loại rủi ro, không nhận diện PEP → </a:t>
            </a:r>
            <a:r>
              <a:rPr lang="vi-VN" b="1" dirty="0"/>
              <a:t>không có feature, không có rule</a:t>
            </a:r>
            <a:endParaRPr lang="vi-VN" dirty="0"/>
          </a:p>
          <a:p>
            <a:r>
              <a:rPr lang="vi-VN" dirty="0"/>
              <a:t>👉 Đây là lỗi </a:t>
            </a:r>
            <a:r>
              <a:rPr lang="vi-VN" b="1" dirty="0"/>
              <a:t>thiết kế schema &amp; pipeline</a:t>
            </a:r>
            <a:r>
              <a:rPr lang="vi-VN" dirty="0"/>
              <a:t>, không phải nhân viên lười.</a:t>
            </a:r>
          </a:p>
        </p:txBody>
      </p:sp>
    </p:spTree>
    <p:extLst>
      <p:ext uri="{BB962C8B-B14F-4D97-AF65-F5344CB8AC3E}">
        <p14:creationId xmlns:p14="http://schemas.microsoft.com/office/powerpoint/2010/main" val="3622366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FB78A-7DE1-EF78-F211-C3E6675C5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A9179-26C7-D252-3477-B5D519244BA5}"/>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9AA80700-6205-CCAF-6231-1E9ACDC3E439}"/>
              </a:ext>
            </a:extLst>
          </p:cNvPr>
          <p:cNvSpPr>
            <a:spLocks noGrp="1"/>
          </p:cNvSpPr>
          <p:nvPr>
            <p:ph idx="1"/>
          </p:nvPr>
        </p:nvSpPr>
        <p:spPr/>
        <p:txBody>
          <a:bodyPr>
            <a:normAutofit/>
          </a:bodyPr>
          <a:lstStyle/>
          <a:p>
            <a:r>
              <a:rPr lang="vi-VN" b="1" dirty="0"/>
              <a:t>Không báo cáo giao dịch giá trị lớn</a:t>
            </a:r>
          </a:p>
          <a:p>
            <a:pPr lvl="1"/>
            <a:r>
              <a:rPr lang="vi-VN" dirty="0"/>
              <a:t>1.662 giao dịch lọt lưới → hoặc là:</a:t>
            </a:r>
          </a:p>
          <a:p>
            <a:pPr lvl="2"/>
            <a:r>
              <a:rPr lang="vi-VN" dirty="0"/>
              <a:t>Không có threshold logic</a:t>
            </a:r>
          </a:p>
          <a:p>
            <a:pPr lvl="2"/>
            <a:r>
              <a:rPr lang="vi-VN" dirty="0"/>
              <a:t>Hoặc có nhưng </a:t>
            </a:r>
            <a:r>
              <a:rPr lang="vi-VN" b="1" dirty="0"/>
              <a:t>không tự động</a:t>
            </a:r>
            <a:endParaRPr lang="vi-VN" dirty="0"/>
          </a:p>
          <a:p>
            <a:pPr lvl="2"/>
            <a:r>
              <a:rPr lang="vi-VN" dirty="0"/>
              <a:t>Hoặc dữ liệu giao dịch không clean, không realtime</a:t>
            </a:r>
          </a:p>
          <a:p>
            <a:r>
              <a:rPr lang="vi-VN" dirty="0"/>
              <a:t>👉 Đây là lỗi </a:t>
            </a:r>
            <a:r>
              <a:rPr lang="vi-VN" b="1" dirty="0"/>
              <a:t>monitoring + automation</a:t>
            </a:r>
            <a:r>
              <a:rPr lang="vi-VN" dirty="0"/>
              <a:t>, không phải “quên”.</a:t>
            </a:r>
          </a:p>
        </p:txBody>
      </p:sp>
    </p:spTree>
    <p:extLst>
      <p:ext uri="{BB962C8B-B14F-4D97-AF65-F5344CB8AC3E}">
        <p14:creationId xmlns:p14="http://schemas.microsoft.com/office/powerpoint/2010/main" val="575823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4AEE1-1459-26BE-AEA0-9F04A57A1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116DD-9F11-F45C-80DE-E6CB448402C9}"/>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50531AE1-88F8-1ED4-CB13-769F348147E9}"/>
              </a:ext>
            </a:extLst>
          </p:cNvPr>
          <p:cNvSpPr>
            <a:spLocks noGrp="1"/>
          </p:cNvSpPr>
          <p:nvPr>
            <p:ph idx="1"/>
          </p:nvPr>
        </p:nvSpPr>
        <p:spPr/>
        <p:txBody>
          <a:bodyPr>
            <a:normAutofit/>
          </a:bodyPr>
          <a:lstStyle/>
          <a:p>
            <a:r>
              <a:rPr lang="vi-VN" b="1" dirty="0"/>
              <a:t>C. Không đánh giá rủi ro AML</a:t>
            </a:r>
          </a:p>
          <a:p>
            <a:pPr lvl="1"/>
            <a:r>
              <a:rPr lang="vi-VN" dirty="0"/>
              <a:t>Không có risk scoring</a:t>
            </a:r>
          </a:p>
          <a:p>
            <a:pPr lvl="1"/>
            <a:r>
              <a:rPr lang="vi-VN" dirty="0"/>
              <a:t>Không lưu kết quả phân tích</a:t>
            </a:r>
          </a:p>
          <a:p>
            <a:r>
              <a:rPr lang="vi-VN" dirty="0"/>
              <a:t>👉 Nghĩa là </a:t>
            </a:r>
            <a:r>
              <a:rPr lang="vi-VN" b="1" dirty="0"/>
              <a:t>không tồn tại khái niệm feature engineering + model output</a:t>
            </a:r>
            <a:r>
              <a:rPr lang="vi-VN" dirty="0"/>
              <a:t>.</a:t>
            </a:r>
          </a:p>
        </p:txBody>
      </p:sp>
    </p:spTree>
    <p:extLst>
      <p:ext uri="{BB962C8B-B14F-4D97-AF65-F5344CB8AC3E}">
        <p14:creationId xmlns:p14="http://schemas.microsoft.com/office/powerpoint/2010/main" val="3072227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3C06F-0A55-F0BC-585C-921DBAB45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9CC0D-81B1-A7A8-A702-B091845299B8}"/>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C0EFDAB5-5728-DF2E-A3BB-4DE13046E8B4}"/>
              </a:ext>
            </a:extLst>
          </p:cNvPr>
          <p:cNvSpPr>
            <a:spLocks noGrp="1"/>
          </p:cNvSpPr>
          <p:nvPr>
            <p:ph idx="1"/>
          </p:nvPr>
        </p:nvSpPr>
        <p:spPr/>
        <p:txBody>
          <a:bodyPr>
            <a:normAutofit/>
          </a:bodyPr>
          <a:lstStyle/>
          <a:p>
            <a:r>
              <a:rPr lang="vi-VN" b="1" dirty="0"/>
              <a:t>Chứng từ không khớp thực tế</a:t>
            </a:r>
          </a:p>
          <a:p>
            <a:pPr lvl="1"/>
            <a:r>
              <a:rPr lang="vi-VN" dirty="0"/>
              <a:t>Người bán mờ mịt</a:t>
            </a:r>
          </a:p>
          <a:p>
            <a:pPr lvl="1"/>
            <a:r>
              <a:rPr lang="vi-VN" dirty="0"/>
              <a:t>Dòng tiền – hàng hóa – chứng từ không đồng bộ</a:t>
            </a:r>
          </a:p>
          <a:p>
            <a:r>
              <a:rPr lang="vi-VN" dirty="0"/>
              <a:t>👉 Đây là </a:t>
            </a:r>
            <a:r>
              <a:rPr lang="vi-VN" b="1" dirty="0"/>
              <a:t>anomaly detection + reconciliation</a:t>
            </a:r>
            <a:r>
              <a:rPr lang="vi-VN" dirty="0"/>
              <a:t>.</a:t>
            </a:r>
          </a:p>
        </p:txBody>
      </p:sp>
    </p:spTree>
    <p:extLst>
      <p:ext uri="{BB962C8B-B14F-4D97-AF65-F5344CB8AC3E}">
        <p14:creationId xmlns:p14="http://schemas.microsoft.com/office/powerpoint/2010/main" val="2641857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5D83F-882A-D51E-5159-E540C0444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60EFB-68B5-E512-583E-1BF5C11A1C14}"/>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E08717DF-6677-2C23-C6E1-78ED0316DA61}"/>
              </a:ext>
            </a:extLst>
          </p:cNvPr>
          <p:cNvSpPr>
            <a:spLocks noGrp="1"/>
          </p:cNvSpPr>
          <p:nvPr>
            <p:ph idx="1"/>
          </p:nvPr>
        </p:nvSpPr>
        <p:spPr/>
        <p:txBody>
          <a:bodyPr>
            <a:normAutofit/>
          </a:bodyPr>
          <a:lstStyle/>
          <a:p>
            <a:r>
              <a:rPr lang="vi-VN" b="1" dirty="0"/>
              <a:t>Lớp 1: Chuẩn hóa dữ liệu và KPI AML (không ML vẫn phải làm) </a:t>
            </a:r>
            <a:endParaRPr lang="en-US" b="1" dirty="0"/>
          </a:p>
          <a:p>
            <a:r>
              <a:rPr lang="vi-VN" b="1" dirty="0"/>
              <a:t>KYC Data Quality Metrics</a:t>
            </a:r>
            <a:endParaRPr lang="vi-VN" dirty="0"/>
          </a:p>
          <a:p>
            <a:pPr lvl="1"/>
            <a:r>
              <a:rPr lang="vi-VN" dirty="0"/>
              <a:t>% giao dịch thiếu ≥1 trường KYC bắt buộc</a:t>
            </a:r>
          </a:p>
          <a:p>
            <a:pPr lvl="1"/>
            <a:r>
              <a:rPr lang="vi-VN" dirty="0"/>
              <a:t>% khách hàng thiếu nationality / ID type</a:t>
            </a:r>
          </a:p>
          <a:p>
            <a:pPr lvl="1"/>
            <a:r>
              <a:rPr lang="vi-VN" dirty="0"/>
              <a:t>% khách hàng chưa xác định beneficial owner</a:t>
            </a:r>
          </a:p>
        </p:txBody>
      </p:sp>
    </p:spTree>
    <p:extLst>
      <p:ext uri="{BB962C8B-B14F-4D97-AF65-F5344CB8AC3E}">
        <p14:creationId xmlns:p14="http://schemas.microsoft.com/office/powerpoint/2010/main" val="3691903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EF66E-AE1D-6C82-03A5-C7DFD45C0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534D3-38DC-D1C0-DC45-9F7A105F42A9}"/>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D5A72322-37F2-A649-CF15-D8203C32B27F}"/>
              </a:ext>
            </a:extLst>
          </p:cNvPr>
          <p:cNvSpPr>
            <a:spLocks noGrp="1"/>
          </p:cNvSpPr>
          <p:nvPr>
            <p:ph idx="1"/>
          </p:nvPr>
        </p:nvSpPr>
        <p:spPr/>
        <p:txBody>
          <a:bodyPr>
            <a:normAutofit/>
          </a:bodyPr>
          <a:lstStyle/>
          <a:p>
            <a:r>
              <a:rPr lang="vi-VN" b="1" dirty="0"/>
              <a:t>Lớp 1: Chuẩn hóa dữ liệu và KPI AML (không ML vẫn phải làm) </a:t>
            </a:r>
            <a:endParaRPr lang="en-US" b="1" dirty="0"/>
          </a:p>
          <a:p>
            <a:r>
              <a:rPr lang="vi-VN" b="1" dirty="0"/>
              <a:t>Transaction Compliance Metrics</a:t>
            </a:r>
            <a:endParaRPr lang="vi-VN" dirty="0"/>
          </a:p>
          <a:p>
            <a:pPr lvl="1"/>
            <a:r>
              <a:rPr lang="vi-VN" dirty="0"/>
              <a:t>% giao dịch &gt; threshold nhưng chưa report</a:t>
            </a:r>
          </a:p>
          <a:p>
            <a:pPr lvl="1"/>
            <a:r>
              <a:rPr lang="vi-VN" dirty="0"/>
              <a:t>Delay từ transaction_time → report_time</a:t>
            </a:r>
          </a:p>
        </p:txBody>
      </p:sp>
    </p:spTree>
    <p:extLst>
      <p:ext uri="{BB962C8B-B14F-4D97-AF65-F5344CB8AC3E}">
        <p14:creationId xmlns:p14="http://schemas.microsoft.com/office/powerpoint/2010/main" val="183986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72BCC-B6AA-8B9A-59A7-FFA90527D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D546D-F0C4-5303-66DE-3A41B7E5F5E8}"/>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BC2D9D93-5B38-0999-046F-E1E088D34FCF}"/>
              </a:ext>
            </a:extLst>
          </p:cNvPr>
          <p:cNvSpPr>
            <a:spLocks noGrp="1"/>
          </p:cNvSpPr>
          <p:nvPr>
            <p:ph idx="1"/>
          </p:nvPr>
        </p:nvSpPr>
        <p:spPr/>
        <p:txBody>
          <a:bodyPr>
            <a:normAutofit/>
          </a:bodyPr>
          <a:lstStyle/>
          <a:p>
            <a:r>
              <a:rPr lang="vi-VN" b="1" dirty="0"/>
              <a:t>Lớp 1: Chuẩn hóa dữ liệu và KPI AML (không ML vẫn phải làm) </a:t>
            </a:r>
            <a:endParaRPr lang="en-US" b="1" dirty="0"/>
          </a:p>
          <a:p>
            <a:r>
              <a:rPr lang="en-US" b="1" dirty="0"/>
              <a:t>Risk Coverage</a:t>
            </a:r>
            <a:endParaRPr lang="en-US" dirty="0"/>
          </a:p>
          <a:p>
            <a:pPr lvl="1"/>
            <a:r>
              <a:rPr lang="en-US" dirty="0"/>
              <a:t>% </a:t>
            </a:r>
            <a:r>
              <a:rPr lang="en-US" dirty="0" err="1"/>
              <a:t>khách</a:t>
            </a:r>
            <a:r>
              <a:rPr lang="en-US" dirty="0"/>
              <a:t> </a:t>
            </a:r>
            <a:r>
              <a:rPr lang="en-US" dirty="0" err="1"/>
              <a:t>hàng</a:t>
            </a:r>
            <a:r>
              <a:rPr lang="en-US" dirty="0"/>
              <a:t> </a:t>
            </a:r>
            <a:r>
              <a:rPr lang="en-US" dirty="0" err="1"/>
              <a:t>chưa</a:t>
            </a:r>
            <a:r>
              <a:rPr lang="en-US" dirty="0"/>
              <a:t> </a:t>
            </a:r>
            <a:r>
              <a:rPr lang="en-US" dirty="0" err="1"/>
              <a:t>có</a:t>
            </a:r>
            <a:r>
              <a:rPr lang="en-US" dirty="0"/>
              <a:t> risk score</a:t>
            </a:r>
          </a:p>
          <a:p>
            <a:pPr lvl="1"/>
            <a:r>
              <a:rPr lang="en-US" dirty="0"/>
              <a:t>% foreign customers </a:t>
            </a:r>
            <a:r>
              <a:rPr lang="en-US" dirty="0" err="1"/>
              <a:t>chưa</a:t>
            </a:r>
            <a:r>
              <a:rPr lang="en-US" dirty="0"/>
              <a:t> check PEP</a:t>
            </a:r>
          </a:p>
        </p:txBody>
      </p:sp>
    </p:spTree>
    <p:extLst>
      <p:ext uri="{BB962C8B-B14F-4D97-AF65-F5344CB8AC3E}">
        <p14:creationId xmlns:p14="http://schemas.microsoft.com/office/powerpoint/2010/main" val="2098348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8ACDC-F0F8-7147-6A12-AA01A6660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32E1A-4C51-DF4A-612A-A5A4B78DC19C}"/>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2C6B7D23-8540-BC18-3C50-EC474F20D0D9}"/>
              </a:ext>
            </a:extLst>
          </p:cNvPr>
          <p:cNvSpPr>
            <a:spLocks noGrp="1"/>
          </p:cNvSpPr>
          <p:nvPr>
            <p:ph idx="1"/>
          </p:nvPr>
        </p:nvSpPr>
        <p:spPr/>
        <p:txBody>
          <a:bodyPr>
            <a:normAutofit/>
          </a:bodyPr>
          <a:lstStyle/>
          <a:p>
            <a:r>
              <a:rPr lang="vi-VN" b="1" dirty="0"/>
              <a:t>3. Machine Learning bằng Python: không phải để làm màu</a:t>
            </a:r>
          </a:p>
          <a:p>
            <a:r>
              <a:rPr lang="vi-VN" b="1" dirty="0"/>
              <a:t>3.1. Risk Scoring Model (semi-supervised là hợp lý)</a:t>
            </a:r>
            <a:endParaRPr lang="en-US" b="1" dirty="0"/>
          </a:p>
          <a:p>
            <a:pPr lvl="1"/>
            <a:r>
              <a:rPr lang="vi-VN" b="1" dirty="0"/>
              <a:t>Feature gợi ý</a:t>
            </a:r>
            <a:endParaRPr lang="vi-VN" dirty="0"/>
          </a:p>
          <a:p>
            <a:pPr lvl="1"/>
            <a:r>
              <a:rPr lang="vi-VN" dirty="0"/>
              <a:t>Tần suất giao dịch</a:t>
            </a:r>
          </a:p>
          <a:p>
            <a:pPr lvl="1"/>
            <a:r>
              <a:rPr lang="vi-VN" dirty="0"/>
              <a:t>Tổng giá trị / rolling window</a:t>
            </a:r>
          </a:p>
          <a:p>
            <a:pPr lvl="1"/>
            <a:r>
              <a:rPr lang="vi-VN" dirty="0"/>
              <a:t>Số đối tác khác nhau</a:t>
            </a:r>
          </a:p>
          <a:p>
            <a:pPr lvl="1"/>
            <a:r>
              <a:rPr lang="vi-VN" dirty="0"/>
              <a:t>Quốc tịch, quốc gia dòng tiền</a:t>
            </a:r>
          </a:p>
          <a:p>
            <a:pPr lvl="1"/>
            <a:r>
              <a:rPr lang="vi-VN" dirty="0"/>
              <a:t>Sự lệch giữa hàng hóa – giá trị – thời gian</a:t>
            </a:r>
          </a:p>
          <a:p>
            <a:pPr lvl="1"/>
            <a:r>
              <a:rPr lang="vi-VN" dirty="0"/>
              <a:t>Pattern split giao dịch để né threshold</a:t>
            </a:r>
          </a:p>
        </p:txBody>
      </p:sp>
    </p:spTree>
    <p:extLst>
      <p:ext uri="{BB962C8B-B14F-4D97-AF65-F5344CB8AC3E}">
        <p14:creationId xmlns:p14="http://schemas.microsoft.com/office/powerpoint/2010/main" val="2612803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B6773-5EDA-774C-477B-858B6A95B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1AC64-B7FF-F836-325A-5F7BB433F168}"/>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80032419-50AE-E91E-B32D-BCBEFB31B8DE}"/>
              </a:ext>
            </a:extLst>
          </p:cNvPr>
          <p:cNvSpPr>
            <a:spLocks noGrp="1"/>
          </p:cNvSpPr>
          <p:nvPr>
            <p:ph idx="1"/>
          </p:nvPr>
        </p:nvSpPr>
        <p:spPr/>
        <p:txBody>
          <a:bodyPr>
            <a:normAutofit/>
          </a:bodyPr>
          <a:lstStyle/>
          <a:p>
            <a:r>
              <a:rPr lang="vi-VN" b="1" dirty="0"/>
              <a:t>3. Machine Learning bằng Python: không phải để làm màu</a:t>
            </a:r>
          </a:p>
          <a:p>
            <a:r>
              <a:rPr lang="vi-VN" b="1" dirty="0"/>
              <a:t>3.1. Risk Scoring Model (semi-supervised là hợp lý)</a:t>
            </a:r>
            <a:endParaRPr lang="en-US" b="1" dirty="0"/>
          </a:p>
          <a:p>
            <a:pPr lvl="1"/>
            <a:r>
              <a:rPr lang="vi-VN" b="1" dirty="0"/>
              <a:t>Model phù hợp</a:t>
            </a:r>
            <a:endParaRPr lang="vi-VN" dirty="0"/>
          </a:p>
          <a:p>
            <a:pPr lvl="1"/>
            <a:r>
              <a:rPr lang="vi-VN" dirty="0"/>
              <a:t>Isolation Forest</a:t>
            </a:r>
          </a:p>
          <a:p>
            <a:pPr lvl="1"/>
            <a:r>
              <a:rPr lang="vi-VN" dirty="0"/>
              <a:t>One-Class SVM</a:t>
            </a:r>
          </a:p>
          <a:p>
            <a:pPr lvl="1"/>
            <a:r>
              <a:rPr lang="vi-VN" dirty="0"/>
              <a:t>Autoencoder (nếu dữ liệu lớn)</a:t>
            </a:r>
          </a:p>
        </p:txBody>
      </p:sp>
    </p:spTree>
    <p:extLst>
      <p:ext uri="{BB962C8B-B14F-4D97-AF65-F5344CB8AC3E}">
        <p14:creationId xmlns:p14="http://schemas.microsoft.com/office/powerpoint/2010/main" val="3477592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77DD-7E3E-0C9C-FF9B-72D47BBEE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E278B-400E-3DAA-4E04-51B969874635}"/>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73B275AD-35F4-496A-C065-A7008830608A}"/>
              </a:ext>
            </a:extLst>
          </p:cNvPr>
          <p:cNvSpPr>
            <a:spLocks noGrp="1"/>
          </p:cNvSpPr>
          <p:nvPr>
            <p:ph idx="1"/>
          </p:nvPr>
        </p:nvSpPr>
        <p:spPr/>
        <p:txBody>
          <a:bodyPr>
            <a:normAutofit/>
          </a:bodyPr>
          <a:lstStyle/>
          <a:p>
            <a:r>
              <a:rPr lang="vi-VN" b="1" dirty="0"/>
              <a:t>3. Machine Learning bằng Python: không phải để làm màu</a:t>
            </a:r>
          </a:p>
          <a:p>
            <a:r>
              <a:rPr lang="vi-VN" b="1" dirty="0"/>
              <a:t>3.2. PEP Detection: rule + ML nhẹ</a:t>
            </a:r>
          </a:p>
          <a:p>
            <a:r>
              <a:rPr lang="vi-VN" dirty="0"/>
              <a:t>Đừng mơ NLP cao siêu ngay.</a:t>
            </a:r>
          </a:p>
          <a:p>
            <a:pPr lvl="1"/>
            <a:r>
              <a:rPr lang="vi-VN" dirty="0"/>
              <a:t>Rule-based trước:</a:t>
            </a:r>
          </a:p>
          <a:p>
            <a:pPr lvl="2"/>
            <a:r>
              <a:rPr lang="vi-VN" dirty="0"/>
              <a:t>Nationality ≠ VN</a:t>
            </a:r>
          </a:p>
          <a:p>
            <a:pPr lvl="2"/>
            <a:r>
              <a:rPr lang="vi-VN" dirty="0"/>
              <a:t>High-risk country list</a:t>
            </a:r>
          </a:p>
          <a:p>
            <a:pPr lvl="2"/>
            <a:r>
              <a:rPr lang="vi-VN" dirty="0"/>
              <a:t>Occupation keywords</a:t>
            </a:r>
          </a:p>
          <a:p>
            <a:pPr lvl="1"/>
            <a:r>
              <a:rPr lang="vi-VN" dirty="0"/>
              <a:t>Sau đó mới ML ranking nếu có external data</a:t>
            </a:r>
          </a:p>
        </p:txBody>
      </p:sp>
    </p:spTree>
    <p:extLst>
      <p:ext uri="{BB962C8B-B14F-4D97-AF65-F5344CB8AC3E}">
        <p14:creationId xmlns:p14="http://schemas.microsoft.com/office/powerpoint/2010/main" val="33099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42DC2-DAF6-44CD-80EB-ACB205EAC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449B6-AFDF-1675-2CC7-DD392CDDB020}"/>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6166A0E7-AB6A-864E-9051-4830207867B4}"/>
              </a:ext>
            </a:extLst>
          </p:cNvPr>
          <p:cNvSpPr>
            <a:spLocks noGrp="1"/>
          </p:cNvSpPr>
          <p:nvPr>
            <p:ph idx="1"/>
          </p:nvPr>
        </p:nvSpPr>
        <p:spPr/>
        <p:txBody>
          <a:bodyPr>
            <a:normAutofit/>
          </a:bodyPr>
          <a:lstStyle/>
          <a:p>
            <a:r>
              <a:rPr lang="vi-VN" b="1" dirty="0"/>
              <a:t>4. Alteryx: chỗ này mới đúng sở trường “theo dõi &amp; tự động hóa”</a:t>
            </a:r>
          </a:p>
          <a:p>
            <a:r>
              <a:rPr lang="vi-VN" dirty="0"/>
              <a:t>Alteryx không để “phân tích cho vui”, mà để:</a:t>
            </a:r>
          </a:p>
          <a:p>
            <a:pPr lvl="1"/>
            <a:r>
              <a:rPr lang="vi-VN" b="1" dirty="0"/>
              <a:t>A. Realtime / Near-realtime monitoring</a:t>
            </a:r>
          </a:p>
          <a:p>
            <a:pPr lvl="1"/>
            <a:r>
              <a:rPr lang="vi-VN" dirty="0"/>
              <a:t>Flag giao dịch vượt ngưỡng</a:t>
            </a:r>
          </a:p>
          <a:p>
            <a:pPr lvl="1"/>
            <a:r>
              <a:rPr lang="vi-VN" dirty="0"/>
              <a:t>Flag KYC missing ngay lúc phát sinh</a:t>
            </a:r>
          </a:p>
          <a:p>
            <a:pPr lvl="1"/>
            <a:r>
              <a:rPr lang="vi-VN" dirty="0"/>
              <a:t>Tự động đẩy case cho compliance</a:t>
            </a:r>
          </a:p>
        </p:txBody>
      </p:sp>
    </p:spTree>
    <p:extLst>
      <p:ext uri="{BB962C8B-B14F-4D97-AF65-F5344CB8AC3E}">
        <p14:creationId xmlns:p14="http://schemas.microsoft.com/office/powerpoint/2010/main" val="318164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56EE-DD03-7577-C795-4443A9E68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5F40F-7F5B-631E-83B0-96C9312BDAD1}"/>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001463C9-3E02-CD58-CEC5-93AD445A2C50}"/>
              </a:ext>
            </a:extLst>
          </p:cNvPr>
          <p:cNvSpPr>
            <a:spLocks noGrp="1"/>
          </p:cNvSpPr>
          <p:nvPr>
            <p:ph idx="1"/>
          </p:nvPr>
        </p:nvSpPr>
        <p:spPr/>
        <p:txBody>
          <a:bodyPr>
            <a:normAutofit/>
          </a:bodyPr>
          <a:lstStyle/>
          <a:p>
            <a:r>
              <a:rPr lang="vi-VN" b="1" dirty="0"/>
              <a:t>4. Alteryx: chỗ này mới đúng sở trường “theo dõi &amp; tự động hóa”</a:t>
            </a:r>
          </a:p>
          <a:p>
            <a:r>
              <a:rPr lang="vi-VN" dirty="0"/>
              <a:t>Alteryx không để “phân tích cho vui”, mà để:</a:t>
            </a:r>
          </a:p>
          <a:p>
            <a:pPr lvl="1"/>
            <a:r>
              <a:rPr lang="vi-VN" b="1" dirty="0"/>
              <a:t>B. Automated reporting</a:t>
            </a:r>
          </a:p>
          <a:p>
            <a:pPr lvl="1"/>
            <a:r>
              <a:rPr lang="vi-VN" dirty="0"/>
              <a:t>Auto-generate báo cáo giao dịch giá trị lớn</a:t>
            </a:r>
          </a:p>
          <a:p>
            <a:pPr lvl="1"/>
            <a:r>
              <a:rPr lang="vi-VN" dirty="0"/>
              <a:t>Log lại:</a:t>
            </a:r>
          </a:p>
          <a:p>
            <a:pPr lvl="2"/>
            <a:r>
              <a:rPr lang="vi-VN" dirty="0"/>
              <a:t>ai duyệt</a:t>
            </a:r>
          </a:p>
          <a:p>
            <a:pPr lvl="2"/>
            <a:r>
              <a:rPr lang="vi-VN" dirty="0"/>
              <a:t>lúc nào</a:t>
            </a:r>
          </a:p>
          <a:p>
            <a:pPr lvl="2"/>
            <a:r>
              <a:rPr lang="vi-VN" dirty="0"/>
              <a:t>lý do</a:t>
            </a:r>
          </a:p>
        </p:txBody>
      </p:sp>
    </p:spTree>
    <p:extLst>
      <p:ext uri="{BB962C8B-B14F-4D97-AF65-F5344CB8AC3E}">
        <p14:creationId xmlns:p14="http://schemas.microsoft.com/office/powerpoint/2010/main" val="320316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D9CF-6A61-E440-C676-3D3F6F0E1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DDBFF-EF4A-231D-D354-E06787E4EAD5}"/>
              </a:ext>
            </a:extLst>
          </p:cNvPr>
          <p:cNvSpPr>
            <a:spLocks noGrp="1"/>
          </p:cNvSpPr>
          <p:nvPr>
            <p:ph type="title"/>
          </p:nvPr>
        </p:nvSpPr>
        <p:spPr/>
        <p:txBody>
          <a:bodyPr/>
          <a:lstStyle/>
          <a:p>
            <a:r>
              <a:rPr lang="en-US" dirty="0"/>
              <a:t>ASK</a:t>
            </a:r>
            <a:endParaRPr lang="vi-VN" dirty="0"/>
          </a:p>
        </p:txBody>
      </p:sp>
      <p:sp>
        <p:nvSpPr>
          <p:cNvPr id="3" name="Content Placeholder 2">
            <a:extLst>
              <a:ext uri="{FF2B5EF4-FFF2-40B4-BE49-F238E27FC236}">
                <a16:creationId xmlns:a16="http://schemas.microsoft.com/office/drawing/2014/main" id="{42DB29F9-C1BF-803C-DA58-3A1CFC27F938}"/>
              </a:ext>
            </a:extLst>
          </p:cNvPr>
          <p:cNvSpPr>
            <a:spLocks noGrp="1"/>
          </p:cNvSpPr>
          <p:nvPr>
            <p:ph idx="1"/>
          </p:nvPr>
        </p:nvSpPr>
        <p:spPr/>
        <p:txBody>
          <a:bodyPr>
            <a:normAutofit/>
          </a:bodyPr>
          <a:lstStyle/>
          <a:p>
            <a:r>
              <a:rPr lang="vi-VN" b="1" dirty="0"/>
              <a:t>4. Alteryx: chỗ này mới đúng sở trường “theo dõi &amp; tự động hóa”</a:t>
            </a:r>
          </a:p>
          <a:p>
            <a:r>
              <a:rPr lang="vi-VN" dirty="0"/>
              <a:t>Alteryx không để “phân tích cho vui”, mà để:</a:t>
            </a:r>
          </a:p>
          <a:p>
            <a:pPr lvl="1"/>
            <a:r>
              <a:rPr lang="vi-VN" b="1" dirty="0"/>
              <a:t>C. Data lineage &amp; audit trail</a:t>
            </a:r>
          </a:p>
          <a:p>
            <a:pPr lvl="1"/>
            <a:r>
              <a:rPr lang="vi-VN" dirty="0"/>
              <a:t>Luật không chỉ hỏi “anh có làm không”</a:t>
            </a:r>
          </a:p>
          <a:p>
            <a:pPr lvl="1"/>
            <a:r>
              <a:rPr lang="vi-VN" dirty="0"/>
              <a:t>Mà hỏi “anh chứng minh bằng gì”</a:t>
            </a:r>
          </a:p>
        </p:txBody>
      </p:sp>
    </p:spTree>
    <p:extLst>
      <p:ext uri="{BB962C8B-B14F-4D97-AF65-F5344CB8AC3E}">
        <p14:creationId xmlns:p14="http://schemas.microsoft.com/office/powerpoint/2010/main" val="2664340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D14B0F-AB43-2EC3-3656-E54F8AEADA7E}"/>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vi-VN"/>
            </a:p>
          </p:txBody>
        </p:sp>
        <p:sp>
          <p:nvSpPr>
            <p:cNvPr id="12"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vi-VN"/>
            </a:p>
          </p:txBody>
        </p:sp>
      </p:grpSp>
      <p:sp>
        <p:nvSpPr>
          <p:cNvPr id="14" name="Rectangle 13">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 name="Title 1">
            <a:extLst>
              <a:ext uri="{FF2B5EF4-FFF2-40B4-BE49-F238E27FC236}">
                <a16:creationId xmlns:a16="http://schemas.microsoft.com/office/drawing/2014/main" id="{FC00E749-A3BC-8E9C-A068-5E18154F676D}"/>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5400" b="0" i="0" kern="1200">
                <a:solidFill>
                  <a:srgbClr val="EBEBEB"/>
                </a:solidFill>
                <a:latin typeface="+mj-lt"/>
                <a:ea typeface="+mj-ea"/>
                <a:cs typeface="+mj-cs"/>
              </a:rPr>
              <a:t>ASK</a:t>
            </a:r>
          </a:p>
        </p:txBody>
      </p:sp>
      <p:sp>
        <p:nvSpPr>
          <p:cNvPr id="3" name="Content Placeholder 2">
            <a:extLst>
              <a:ext uri="{FF2B5EF4-FFF2-40B4-BE49-F238E27FC236}">
                <a16:creationId xmlns:a16="http://schemas.microsoft.com/office/drawing/2014/main" id="{05A01C56-74D0-A829-35E4-4368F28B44D8}"/>
              </a:ext>
            </a:extLst>
          </p:cNvPr>
          <p:cNvSpPr>
            <a:spLocks noGrp="1"/>
          </p:cNvSpPr>
          <p:nvPr>
            <p:ph idx="1"/>
          </p:nvPr>
        </p:nvSpPr>
        <p:spPr>
          <a:xfrm>
            <a:off x="8382055" y="4591665"/>
            <a:ext cx="3161016" cy="1622322"/>
          </a:xfrm>
        </p:spPr>
        <p:txBody>
          <a:bodyPr vert="horz" lIns="91440" tIns="45720" rIns="91440" bIns="45720" rtlCol="0" anchor="t">
            <a:normAutofit/>
          </a:bodyPr>
          <a:lstStyle/>
          <a:p>
            <a:pPr marL="0" indent="0">
              <a:buNone/>
            </a:pPr>
            <a:r>
              <a:rPr lang="en-US" b="0" i="0" kern="1200" cap="all" dirty="0">
                <a:solidFill>
                  <a:schemeClr val="accent1">
                    <a:lumMod val="60000"/>
                    <a:lumOff val="40000"/>
                  </a:schemeClr>
                </a:solidFill>
                <a:latin typeface="+mn-lt"/>
                <a:ea typeface="+mn-ea"/>
                <a:cs typeface="+mn-cs"/>
              </a:rPr>
              <a:t>Mapping thẳng sang từng vi phạm (để nói chuyện với lãnh đạo)</a:t>
            </a:r>
          </a:p>
        </p:txBody>
      </p:sp>
      <p:grpSp>
        <p:nvGrpSpPr>
          <p:cNvPr id="16" name="Group 15">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7" name="Rectangle 16">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8"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vi-VN"/>
            </a:p>
          </p:txBody>
        </p:sp>
        <p:sp>
          <p:nvSpPr>
            <p:cNvPr id="19"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vi-VN"/>
            </a:p>
          </p:txBody>
        </p:sp>
      </p:grpSp>
      <p:graphicFrame>
        <p:nvGraphicFramePr>
          <p:cNvPr id="5" name="Table 4">
            <a:extLst>
              <a:ext uri="{FF2B5EF4-FFF2-40B4-BE49-F238E27FC236}">
                <a16:creationId xmlns:a16="http://schemas.microsoft.com/office/drawing/2014/main" id="{11780555-C25A-5398-8B10-73902BB60BCD}"/>
              </a:ext>
            </a:extLst>
          </p:cNvPr>
          <p:cNvGraphicFramePr>
            <a:graphicFrameLocks noGrp="1"/>
          </p:cNvGraphicFramePr>
          <p:nvPr>
            <p:extLst>
              <p:ext uri="{D42A27DB-BD31-4B8C-83A1-F6EECF244321}">
                <p14:modId xmlns:p14="http://schemas.microsoft.com/office/powerpoint/2010/main" val="2366914070"/>
              </p:ext>
            </p:extLst>
          </p:nvPr>
        </p:nvGraphicFramePr>
        <p:xfrm>
          <a:off x="1109763" y="1367660"/>
          <a:ext cx="6443181" cy="4122682"/>
        </p:xfrm>
        <a:graphic>
          <a:graphicData uri="http://schemas.openxmlformats.org/drawingml/2006/table">
            <a:tbl>
              <a:tblPr/>
              <a:tblGrid>
                <a:gridCol w="3322242">
                  <a:extLst>
                    <a:ext uri="{9D8B030D-6E8A-4147-A177-3AD203B41FA5}">
                      <a16:colId xmlns:a16="http://schemas.microsoft.com/office/drawing/2014/main" val="2299346157"/>
                    </a:ext>
                  </a:extLst>
                </a:gridCol>
                <a:gridCol w="3120939">
                  <a:extLst>
                    <a:ext uri="{9D8B030D-6E8A-4147-A177-3AD203B41FA5}">
                      <a16:colId xmlns:a16="http://schemas.microsoft.com/office/drawing/2014/main" val="2211932546"/>
                    </a:ext>
                  </a:extLst>
                </a:gridCol>
              </a:tblGrid>
              <a:tr h="472391">
                <a:tc>
                  <a:txBody>
                    <a:bodyPr/>
                    <a:lstStyle/>
                    <a:p>
                      <a:pPr algn="l" fontAlgn="ctr">
                        <a:buNone/>
                      </a:pPr>
                      <a:r>
                        <a:rPr lang="vi-VN" sz="2100" b="0" i="0" u="none" strike="noStrike">
                          <a:effectLst/>
                          <a:latin typeface="Arial" panose="020B0604020202020204" pitchFamily="34" charset="0"/>
                        </a:rPr>
                        <a:t>Vi phạm</a:t>
                      </a:r>
                    </a:p>
                  </a:txBody>
                  <a:tcPr marL="107361" marR="107361" marT="53681" marB="53681" anchor="ctr">
                    <a:lnL>
                      <a:noFill/>
                    </a:lnL>
                    <a:lnR>
                      <a:noFill/>
                    </a:lnR>
                    <a:lnT>
                      <a:noFill/>
                    </a:lnT>
                    <a:lnB>
                      <a:noFill/>
                    </a:lnB>
                    <a:noFill/>
                  </a:tcPr>
                </a:tc>
                <a:tc>
                  <a:txBody>
                    <a:bodyPr/>
                    <a:lstStyle/>
                    <a:p>
                      <a:pPr algn="l" fontAlgn="ctr">
                        <a:buNone/>
                      </a:pPr>
                      <a:r>
                        <a:rPr lang="vi-VN" sz="2100" b="0" i="0" u="none" strike="noStrike">
                          <a:effectLst/>
                          <a:latin typeface="Arial" panose="020B0604020202020204" pitchFamily="34" charset="0"/>
                        </a:rPr>
                        <a:t>Giải pháp data</a:t>
                      </a:r>
                    </a:p>
                  </a:txBody>
                  <a:tcPr marL="107361" marR="107361" marT="53681" marB="53681" anchor="ctr">
                    <a:lnL>
                      <a:noFill/>
                    </a:lnL>
                    <a:lnR>
                      <a:noFill/>
                    </a:lnR>
                    <a:lnT>
                      <a:noFill/>
                    </a:lnT>
                    <a:lnB>
                      <a:noFill/>
                    </a:lnB>
                    <a:noFill/>
                  </a:tcPr>
                </a:tc>
                <a:extLst>
                  <a:ext uri="{0D108BD9-81ED-4DB2-BD59-A6C34878D82A}">
                    <a16:rowId xmlns:a16="http://schemas.microsoft.com/office/drawing/2014/main" val="2901991060"/>
                  </a:ext>
                </a:extLst>
              </a:tr>
              <a:tr h="794475">
                <a:tc>
                  <a:txBody>
                    <a:bodyPr/>
                    <a:lstStyle/>
                    <a:p>
                      <a:pPr algn="l" fontAlgn="ctr">
                        <a:buNone/>
                      </a:pPr>
                      <a:r>
                        <a:rPr lang="vi-VN" sz="2100" b="0" i="0" u="none" strike="noStrike">
                          <a:effectLst/>
                          <a:latin typeface="Arial" panose="020B0604020202020204" pitchFamily="34" charset="0"/>
                        </a:rPr>
                        <a:t>KYC thiếu</a:t>
                      </a:r>
                    </a:p>
                  </a:txBody>
                  <a:tcPr marL="107361" marR="107361" marT="53681" marB="53681"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Data quality rules + mandatory fields</a:t>
                      </a:r>
                    </a:p>
                  </a:txBody>
                  <a:tcPr marL="107361" marR="107361" marT="53681" marB="53681" anchor="ctr">
                    <a:lnL>
                      <a:noFill/>
                    </a:lnL>
                    <a:lnR>
                      <a:noFill/>
                    </a:lnR>
                    <a:lnT>
                      <a:noFill/>
                    </a:lnT>
                    <a:lnB>
                      <a:noFill/>
                    </a:lnB>
                    <a:noFill/>
                  </a:tcPr>
                </a:tc>
                <a:extLst>
                  <a:ext uri="{0D108BD9-81ED-4DB2-BD59-A6C34878D82A}">
                    <a16:rowId xmlns:a16="http://schemas.microsoft.com/office/drawing/2014/main" val="1177312929"/>
                  </a:ext>
                </a:extLst>
              </a:tr>
              <a:tr h="472391">
                <a:tc>
                  <a:txBody>
                    <a:bodyPr/>
                    <a:lstStyle/>
                    <a:p>
                      <a:pPr algn="l" fontAlgn="ctr">
                        <a:buNone/>
                      </a:pPr>
                      <a:r>
                        <a:rPr lang="vi-VN" sz="2100" b="0" i="0" u="none" strike="noStrike">
                          <a:effectLst/>
                          <a:latin typeface="Arial" panose="020B0604020202020204" pitchFamily="34" charset="0"/>
                        </a:rPr>
                        <a:t>Không phân loại rủi ro</a:t>
                      </a:r>
                    </a:p>
                  </a:txBody>
                  <a:tcPr marL="107361" marR="107361" marT="53681" marB="53681" anchor="ctr">
                    <a:lnL>
                      <a:noFill/>
                    </a:lnL>
                    <a:lnR>
                      <a:noFill/>
                    </a:lnR>
                    <a:lnT>
                      <a:noFill/>
                    </a:lnT>
                    <a:lnB>
                      <a:noFill/>
                    </a:lnB>
                    <a:noFill/>
                  </a:tcPr>
                </a:tc>
                <a:tc>
                  <a:txBody>
                    <a:bodyPr/>
                    <a:lstStyle/>
                    <a:p>
                      <a:pPr algn="l" fontAlgn="ctr">
                        <a:buNone/>
                      </a:pPr>
                      <a:r>
                        <a:rPr lang="vi-VN" sz="2100" b="0" i="0" u="none" strike="noStrike">
                          <a:effectLst/>
                          <a:latin typeface="Arial" panose="020B0604020202020204" pitchFamily="34" charset="0"/>
                        </a:rPr>
                        <a:t>Risk scoring model</a:t>
                      </a:r>
                    </a:p>
                  </a:txBody>
                  <a:tcPr marL="107361" marR="107361" marT="53681" marB="53681" anchor="ctr">
                    <a:lnL>
                      <a:noFill/>
                    </a:lnL>
                    <a:lnR>
                      <a:noFill/>
                    </a:lnR>
                    <a:lnT>
                      <a:noFill/>
                    </a:lnT>
                    <a:lnB>
                      <a:noFill/>
                    </a:lnB>
                    <a:noFill/>
                  </a:tcPr>
                </a:tc>
                <a:extLst>
                  <a:ext uri="{0D108BD9-81ED-4DB2-BD59-A6C34878D82A}">
                    <a16:rowId xmlns:a16="http://schemas.microsoft.com/office/drawing/2014/main" val="1293410378"/>
                  </a:ext>
                </a:extLst>
              </a:tr>
              <a:tr h="794475">
                <a:tc>
                  <a:txBody>
                    <a:bodyPr/>
                    <a:lstStyle/>
                    <a:p>
                      <a:pPr algn="l" fontAlgn="ctr">
                        <a:buNone/>
                      </a:pPr>
                      <a:r>
                        <a:rPr lang="vi-VN" sz="2100" b="0" i="0" u="none" strike="noStrike">
                          <a:effectLst/>
                          <a:latin typeface="Arial" panose="020B0604020202020204" pitchFamily="34" charset="0"/>
                        </a:rPr>
                        <a:t>Không báo cáo giao dịch lớn</a:t>
                      </a:r>
                    </a:p>
                  </a:txBody>
                  <a:tcPr marL="107361" marR="107361" marT="53681" marB="53681" anchor="ctr">
                    <a:lnL>
                      <a:noFill/>
                    </a:lnL>
                    <a:lnR>
                      <a:noFill/>
                    </a:lnR>
                    <a:lnT>
                      <a:noFill/>
                    </a:lnT>
                    <a:lnB>
                      <a:noFill/>
                    </a:lnB>
                    <a:noFill/>
                  </a:tcPr>
                </a:tc>
                <a:tc>
                  <a:txBody>
                    <a:bodyPr/>
                    <a:lstStyle/>
                    <a:p>
                      <a:pPr algn="l" fontAlgn="ctr">
                        <a:buNone/>
                      </a:pPr>
                      <a:r>
                        <a:rPr lang="vi-VN" sz="2100" b="0" i="0" u="none" strike="noStrike">
                          <a:effectLst/>
                          <a:latin typeface="Arial" panose="020B0604020202020204" pitchFamily="34" charset="0"/>
                        </a:rPr>
                        <a:t>Threshold monitoring + auto-report</a:t>
                      </a:r>
                    </a:p>
                  </a:txBody>
                  <a:tcPr marL="107361" marR="107361" marT="53681" marB="53681" anchor="ctr">
                    <a:lnL>
                      <a:noFill/>
                    </a:lnL>
                    <a:lnR>
                      <a:noFill/>
                    </a:lnR>
                    <a:lnT>
                      <a:noFill/>
                    </a:lnT>
                    <a:lnB>
                      <a:noFill/>
                    </a:lnB>
                    <a:noFill/>
                  </a:tcPr>
                </a:tc>
                <a:extLst>
                  <a:ext uri="{0D108BD9-81ED-4DB2-BD59-A6C34878D82A}">
                    <a16:rowId xmlns:a16="http://schemas.microsoft.com/office/drawing/2014/main" val="3815173195"/>
                  </a:ext>
                </a:extLst>
              </a:tr>
              <a:tr h="794475">
                <a:tc>
                  <a:txBody>
                    <a:bodyPr/>
                    <a:lstStyle/>
                    <a:p>
                      <a:pPr algn="l" fontAlgn="ctr">
                        <a:buNone/>
                      </a:pPr>
                      <a:r>
                        <a:rPr lang="vi-VN" sz="2100" b="0" i="0" u="none" strike="noStrike">
                          <a:effectLst/>
                          <a:latin typeface="Arial" panose="020B0604020202020204" pitchFamily="34" charset="0"/>
                        </a:rPr>
                        <a:t>Không đánh giá AML</a:t>
                      </a:r>
                    </a:p>
                  </a:txBody>
                  <a:tcPr marL="107361" marR="107361" marT="53681" marB="53681" anchor="ctr">
                    <a:lnL>
                      <a:noFill/>
                    </a:lnL>
                    <a:lnR>
                      <a:noFill/>
                    </a:lnR>
                    <a:lnT>
                      <a:noFill/>
                    </a:lnT>
                    <a:lnB>
                      <a:noFill/>
                    </a:lnB>
                    <a:noFill/>
                  </a:tcPr>
                </a:tc>
                <a:tc>
                  <a:txBody>
                    <a:bodyPr/>
                    <a:lstStyle/>
                    <a:p>
                      <a:pPr algn="l" fontAlgn="ctr">
                        <a:buNone/>
                      </a:pPr>
                      <a:r>
                        <a:rPr lang="vi-VN" sz="2100" b="0" i="0" u="none" strike="noStrike">
                          <a:effectLst/>
                          <a:latin typeface="Arial" panose="020B0604020202020204" pitchFamily="34" charset="0"/>
                        </a:rPr>
                        <a:t>Model output + lưu kết quả</a:t>
                      </a:r>
                    </a:p>
                  </a:txBody>
                  <a:tcPr marL="107361" marR="107361" marT="53681" marB="53681" anchor="ctr">
                    <a:lnL>
                      <a:noFill/>
                    </a:lnL>
                    <a:lnR>
                      <a:noFill/>
                    </a:lnR>
                    <a:lnT>
                      <a:noFill/>
                    </a:lnT>
                    <a:lnB>
                      <a:noFill/>
                    </a:lnB>
                    <a:noFill/>
                  </a:tcPr>
                </a:tc>
                <a:extLst>
                  <a:ext uri="{0D108BD9-81ED-4DB2-BD59-A6C34878D82A}">
                    <a16:rowId xmlns:a16="http://schemas.microsoft.com/office/drawing/2014/main" val="2179751881"/>
                  </a:ext>
                </a:extLst>
              </a:tr>
              <a:tr h="794475">
                <a:tc>
                  <a:txBody>
                    <a:bodyPr/>
                    <a:lstStyle/>
                    <a:p>
                      <a:pPr algn="l" fontAlgn="ctr">
                        <a:buNone/>
                      </a:pPr>
                      <a:r>
                        <a:rPr lang="vi-VN" sz="2100" b="0" i="0" u="none" strike="noStrike">
                          <a:effectLst/>
                          <a:latin typeface="Arial" panose="020B0604020202020204" pitchFamily="34" charset="0"/>
                        </a:rPr>
                        <a:t>Chứng từ sai</a:t>
                      </a:r>
                    </a:p>
                  </a:txBody>
                  <a:tcPr marL="107361" marR="107361" marT="53681" marB="53681" anchor="ctr">
                    <a:lnL>
                      <a:noFill/>
                    </a:lnL>
                    <a:lnR>
                      <a:noFill/>
                    </a:lnR>
                    <a:lnT>
                      <a:noFill/>
                    </a:lnT>
                    <a:lnB>
                      <a:noFill/>
                    </a:lnB>
                    <a:noFill/>
                  </a:tcPr>
                </a:tc>
                <a:tc>
                  <a:txBody>
                    <a:bodyPr/>
                    <a:lstStyle/>
                    <a:p>
                      <a:pPr algn="l" fontAlgn="ctr">
                        <a:buNone/>
                      </a:pPr>
                      <a:r>
                        <a:rPr lang="vi-VN" sz="2100" b="0" i="0" u="none" strike="noStrike">
                          <a:effectLst/>
                          <a:latin typeface="Arial" panose="020B0604020202020204" pitchFamily="34" charset="0"/>
                        </a:rPr>
                        <a:t>Anomaly detection + reconciliation</a:t>
                      </a:r>
                    </a:p>
                  </a:txBody>
                  <a:tcPr marL="107361" marR="107361" marT="53681" marB="53681" anchor="ctr">
                    <a:lnL>
                      <a:noFill/>
                    </a:lnL>
                    <a:lnR>
                      <a:noFill/>
                    </a:lnR>
                    <a:lnT>
                      <a:noFill/>
                    </a:lnT>
                    <a:lnB>
                      <a:noFill/>
                    </a:lnB>
                    <a:noFill/>
                  </a:tcPr>
                </a:tc>
                <a:extLst>
                  <a:ext uri="{0D108BD9-81ED-4DB2-BD59-A6C34878D82A}">
                    <a16:rowId xmlns:a16="http://schemas.microsoft.com/office/drawing/2014/main" val="1673388058"/>
                  </a:ext>
                </a:extLst>
              </a:tr>
            </a:tbl>
          </a:graphicData>
        </a:graphic>
      </p:graphicFrame>
    </p:spTree>
    <p:extLst>
      <p:ext uri="{BB962C8B-B14F-4D97-AF65-F5344CB8AC3E}">
        <p14:creationId xmlns:p14="http://schemas.microsoft.com/office/powerpoint/2010/main" val="171438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E11FCF-2665-735A-D664-79991F5ACB3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vi-VN"/>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vi-VN"/>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vi-VN"/>
          </a:p>
        </p:txBody>
      </p:sp>
      <p:sp>
        <p:nvSpPr>
          <p:cNvPr id="2" name="Title 1">
            <a:extLst>
              <a:ext uri="{FF2B5EF4-FFF2-40B4-BE49-F238E27FC236}">
                <a16:creationId xmlns:a16="http://schemas.microsoft.com/office/drawing/2014/main" id="{9DE8F024-ADA2-0366-E548-8C31B61EE0A4}"/>
              </a:ext>
            </a:extLst>
          </p:cNvPr>
          <p:cNvSpPr>
            <a:spLocks noGrp="1"/>
          </p:cNvSpPr>
          <p:nvPr>
            <p:ph type="title"/>
          </p:nvPr>
        </p:nvSpPr>
        <p:spPr>
          <a:xfrm>
            <a:off x="1154955" y="973668"/>
            <a:ext cx="2942210" cy="1020232"/>
          </a:xfrm>
        </p:spPr>
        <p:txBody>
          <a:bodyPr>
            <a:normAutofit/>
          </a:bodyPr>
          <a:lstStyle/>
          <a:p>
            <a:r>
              <a:rPr lang="en-US" dirty="0">
                <a:solidFill>
                  <a:srgbClr val="EBEBEB"/>
                </a:solidFill>
              </a:rPr>
              <a:t>PREPARE</a:t>
            </a:r>
            <a:endParaRPr lang="vi-VN" dirty="0">
              <a:solidFill>
                <a:srgbClr val="EBEBEB"/>
              </a:solidFill>
            </a:endParaRPr>
          </a:p>
        </p:txBody>
      </p:sp>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vi-VN"/>
          </a:p>
        </p:txBody>
      </p:sp>
      <p:sp>
        <p:nvSpPr>
          <p:cNvPr id="3" name="Content Placeholder 2">
            <a:extLst>
              <a:ext uri="{FF2B5EF4-FFF2-40B4-BE49-F238E27FC236}">
                <a16:creationId xmlns:a16="http://schemas.microsoft.com/office/drawing/2014/main" id="{FC0ED6BF-28EF-928A-524C-A9F93C525BED}"/>
              </a:ext>
            </a:extLst>
          </p:cNvPr>
          <p:cNvSpPr>
            <a:spLocks noGrp="1"/>
          </p:cNvSpPr>
          <p:nvPr>
            <p:ph idx="1"/>
          </p:nvPr>
        </p:nvSpPr>
        <p:spPr>
          <a:xfrm>
            <a:off x="1154955" y="2120900"/>
            <a:ext cx="3133726" cy="3898900"/>
          </a:xfrm>
        </p:spPr>
        <p:txBody>
          <a:bodyPr>
            <a:normAutofit/>
          </a:bodyPr>
          <a:lstStyle/>
          <a:p>
            <a:r>
              <a:rPr lang="en-US" dirty="0">
                <a:solidFill>
                  <a:srgbClr val="FFFFFF"/>
                </a:solidFill>
              </a:rPr>
              <a:t>Công </a:t>
            </a:r>
            <a:r>
              <a:rPr lang="en-US" dirty="0" err="1">
                <a:solidFill>
                  <a:srgbClr val="FFFFFF"/>
                </a:solidFill>
              </a:rPr>
              <a:t>cụ</a:t>
            </a:r>
            <a:r>
              <a:rPr lang="en-US" dirty="0">
                <a:solidFill>
                  <a:srgbClr val="FFFFFF"/>
                </a:solidFill>
              </a:rPr>
              <a:t>:</a:t>
            </a:r>
          </a:p>
          <a:p>
            <a:pPr lvl="1"/>
            <a:r>
              <a:rPr lang="en-US" dirty="0">
                <a:solidFill>
                  <a:srgbClr val="FFFFFF"/>
                </a:solidFill>
              </a:rPr>
              <a:t>Python</a:t>
            </a:r>
          </a:p>
          <a:p>
            <a:pPr lvl="1"/>
            <a:r>
              <a:rPr lang="en-US" dirty="0">
                <a:solidFill>
                  <a:srgbClr val="FFFFFF"/>
                </a:solidFill>
              </a:rPr>
              <a:t>Machine learning</a:t>
            </a:r>
          </a:p>
          <a:p>
            <a:pPr lvl="1"/>
            <a:r>
              <a:rPr lang="en-US" dirty="0">
                <a:solidFill>
                  <a:srgbClr val="FFFFFF"/>
                </a:solidFill>
              </a:rPr>
              <a:t>Alteryx</a:t>
            </a:r>
          </a:p>
          <a:p>
            <a:pPr lvl="1"/>
            <a:r>
              <a:rPr lang="en-US" dirty="0">
                <a:solidFill>
                  <a:srgbClr val="FFFFFF"/>
                </a:solidFill>
              </a:rPr>
              <a:t>Power BI</a:t>
            </a:r>
            <a:endParaRPr lang="vi-VN" dirty="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vi-VN"/>
          </a:p>
        </p:txBody>
      </p:sp>
    </p:spTree>
    <p:extLst>
      <p:ext uri="{BB962C8B-B14F-4D97-AF65-F5344CB8AC3E}">
        <p14:creationId xmlns:p14="http://schemas.microsoft.com/office/powerpoint/2010/main" val="327995704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BB65-F47D-9B34-788C-8703DE265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4F0B8B-F402-A335-DABC-0D37E51DEF5F}"/>
              </a:ext>
            </a:extLst>
          </p:cNvPr>
          <p:cNvSpPr>
            <a:spLocks noGrp="1"/>
          </p:cNvSpPr>
          <p:nvPr>
            <p:ph type="title"/>
          </p:nvPr>
        </p:nvSpPr>
        <p:spPr/>
        <p:txBody>
          <a:bodyPr/>
          <a:lstStyle/>
          <a:p>
            <a:r>
              <a:rPr lang="en-US" dirty="0"/>
              <a:t>PROCESS</a:t>
            </a:r>
            <a:endParaRPr lang="vi-VN" dirty="0"/>
          </a:p>
        </p:txBody>
      </p:sp>
      <p:sp>
        <p:nvSpPr>
          <p:cNvPr id="3" name="Content Placeholder 2">
            <a:extLst>
              <a:ext uri="{FF2B5EF4-FFF2-40B4-BE49-F238E27FC236}">
                <a16:creationId xmlns:a16="http://schemas.microsoft.com/office/drawing/2014/main" id="{6B79E8D3-0396-BA1F-7D11-30C2A4409678}"/>
              </a:ext>
            </a:extLst>
          </p:cNvPr>
          <p:cNvSpPr>
            <a:spLocks noGrp="1"/>
          </p:cNvSpPr>
          <p:nvPr>
            <p:ph idx="1"/>
          </p:nvPr>
        </p:nvSpPr>
        <p:spPr/>
        <p:txBody>
          <a:bodyPr>
            <a:normAutofit/>
          </a:bodyPr>
          <a:lstStyle/>
          <a:p>
            <a:r>
              <a:rPr lang="vi-VN" dirty="0"/>
              <a:t>Ước đoán mức nhu cầu trung bình hàng ngày của khách hàng</a:t>
            </a:r>
            <a:endParaRPr lang="en-US" dirty="0"/>
          </a:p>
          <a:p>
            <a:r>
              <a:rPr lang="vi-VN" dirty="0"/>
              <a:t>Cách thức điều chỉnh nhập hàng như vậy của nhà hàng có tối ưu về lợi nhuận chưa, tại sao? </a:t>
            </a:r>
            <a:r>
              <a:rPr lang="vi-VN"/>
              <a:t>Nếu chưa, thì số cách nhập cá để tối ưu về mặt lợi nhuận là như thế nào?</a:t>
            </a:r>
            <a:endParaRPr lang="vi-VN" dirty="0"/>
          </a:p>
        </p:txBody>
      </p:sp>
    </p:spTree>
    <p:extLst>
      <p:ext uri="{BB962C8B-B14F-4D97-AF65-F5344CB8AC3E}">
        <p14:creationId xmlns:p14="http://schemas.microsoft.com/office/powerpoint/2010/main" val="200627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D65D5-9B8C-255B-3563-C27887060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6C276-4447-4D48-F244-7DA763362498}"/>
              </a:ext>
            </a:extLst>
          </p:cNvPr>
          <p:cNvSpPr>
            <a:spLocks noGrp="1"/>
          </p:cNvSpPr>
          <p:nvPr>
            <p:ph type="title"/>
          </p:nvPr>
        </p:nvSpPr>
        <p:spPr/>
        <p:txBody>
          <a:bodyPr/>
          <a:lstStyle/>
          <a:p>
            <a:r>
              <a:rPr lang="en-US" dirty="0"/>
              <a:t>Analyze</a:t>
            </a:r>
            <a:endParaRPr lang="vi-VN" dirty="0"/>
          </a:p>
        </p:txBody>
      </p:sp>
      <p:sp>
        <p:nvSpPr>
          <p:cNvPr id="3" name="Content Placeholder 2">
            <a:extLst>
              <a:ext uri="{FF2B5EF4-FFF2-40B4-BE49-F238E27FC236}">
                <a16:creationId xmlns:a16="http://schemas.microsoft.com/office/drawing/2014/main" id="{50093569-BE95-6F5A-4D95-F8FE1960506C}"/>
              </a:ext>
            </a:extLst>
          </p:cNvPr>
          <p:cNvSpPr>
            <a:spLocks noGrp="1"/>
          </p:cNvSpPr>
          <p:nvPr>
            <p:ph idx="1"/>
          </p:nvPr>
        </p:nvSpPr>
        <p:spPr/>
        <p:txBody>
          <a:bodyPr>
            <a:normAutofit/>
          </a:bodyPr>
          <a:lstStyle/>
          <a:p>
            <a:r>
              <a:rPr lang="vi-VN" dirty="0"/>
              <a:t>Ước đoán mức nhu cầu trung bình hàng ngày của khách hàng</a:t>
            </a:r>
            <a:endParaRPr lang="en-US" dirty="0"/>
          </a:p>
          <a:p>
            <a:r>
              <a:rPr lang="vi-VN" dirty="0"/>
              <a:t>Cách thức điều chỉnh nhập hàng như vậy của nhà hàng có tối ưu về lợi nhuận chưa, tại sao? </a:t>
            </a:r>
            <a:r>
              <a:rPr lang="vi-VN"/>
              <a:t>Nếu chưa, thì số cách nhập cá để tối ưu về mặt lợi nhuận là như thế nào?</a:t>
            </a:r>
            <a:endParaRPr lang="vi-VN" dirty="0"/>
          </a:p>
        </p:txBody>
      </p:sp>
    </p:spTree>
    <p:extLst>
      <p:ext uri="{BB962C8B-B14F-4D97-AF65-F5344CB8AC3E}">
        <p14:creationId xmlns:p14="http://schemas.microsoft.com/office/powerpoint/2010/main" val="3605231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2619-241D-22D8-07B8-37A7CECBE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24DD8-FC66-BB60-DD6A-6202A35F6526}"/>
              </a:ext>
            </a:extLst>
          </p:cNvPr>
          <p:cNvSpPr>
            <a:spLocks noGrp="1"/>
          </p:cNvSpPr>
          <p:nvPr>
            <p:ph type="title"/>
          </p:nvPr>
        </p:nvSpPr>
        <p:spPr/>
        <p:txBody>
          <a:bodyPr/>
          <a:lstStyle/>
          <a:p>
            <a:r>
              <a:rPr lang="en-US" dirty="0"/>
              <a:t>Share</a:t>
            </a:r>
            <a:endParaRPr lang="vi-VN" dirty="0"/>
          </a:p>
        </p:txBody>
      </p:sp>
      <p:sp>
        <p:nvSpPr>
          <p:cNvPr id="3" name="Content Placeholder 2">
            <a:extLst>
              <a:ext uri="{FF2B5EF4-FFF2-40B4-BE49-F238E27FC236}">
                <a16:creationId xmlns:a16="http://schemas.microsoft.com/office/drawing/2014/main" id="{2138EA8C-0D3A-75CA-76AF-E8668A9ADDE3}"/>
              </a:ext>
            </a:extLst>
          </p:cNvPr>
          <p:cNvSpPr>
            <a:spLocks noGrp="1"/>
          </p:cNvSpPr>
          <p:nvPr>
            <p:ph idx="1"/>
          </p:nvPr>
        </p:nvSpPr>
        <p:spPr/>
        <p:txBody>
          <a:bodyPr>
            <a:normAutofit/>
          </a:bodyPr>
          <a:lstStyle/>
          <a:p>
            <a:r>
              <a:rPr lang="vi-VN" dirty="0"/>
              <a:t>Ước đoán mức nhu cầu trung bình hàng ngày của khách hàng</a:t>
            </a:r>
            <a:endParaRPr lang="en-US" dirty="0"/>
          </a:p>
          <a:p>
            <a:r>
              <a:rPr lang="vi-VN" dirty="0"/>
              <a:t>Cách thức điều chỉnh nhập hàng như vậy của nhà hàng có tối ưu về lợi nhuận chưa, tại sao? </a:t>
            </a:r>
            <a:r>
              <a:rPr lang="vi-VN"/>
              <a:t>Nếu chưa, thì số cách nhập cá để tối ưu về mặt lợi nhuận là như thế nào?</a:t>
            </a:r>
            <a:endParaRPr lang="vi-VN" dirty="0"/>
          </a:p>
        </p:txBody>
      </p:sp>
    </p:spTree>
    <p:extLst>
      <p:ext uri="{BB962C8B-B14F-4D97-AF65-F5344CB8AC3E}">
        <p14:creationId xmlns:p14="http://schemas.microsoft.com/office/powerpoint/2010/main" val="2871903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F9B06-04AA-A945-59CC-A5EDA5734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DE6A0-0513-5214-02A6-4D0F0B231129}"/>
              </a:ext>
            </a:extLst>
          </p:cNvPr>
          <p:cNvSpPr>
            <a:spLocks noGrp="1"/>
          </p:cNvSpPr>
          <p:nvPr>
            <p:ph type="title"/>
          </p:nvPr>
        </p:nvSpPr>
        <p:spPr/>
        <p:txBody>
          <a:bodyPr/>
          <a:lstStyle/>
          <a:p>
            <a:r>
              <a:rPr lang="en-US" dirty="0"/>
              <a:t>ACT</a:t>
            </a:r>
            <a:endParaRPr lang="vi-VN" dirty="0"/>
          </a:p>
        </p:txBody>
      </p:sp>
      <p:sp>
        <p:nvSpPr>
          <p:cNvPr id="3" name="Content Placeholder 2">
            <a:extLst>
              <a:ext uri="{FF2B5EF4-FFF2-40B4-BE49-F238E27FC236}">
                <a16:creationId xmlns:a16="http://schemas.microsoft.com/office/drawing/2014/main" id="{224EA41D-A6D6-55AB-E743-5FB1869995AD}"/>
              </a:ext>
            </a:extLst>
          </p:cNvPr>
          <p:cNvSpPr>
            <a:spLocks noGrp="1"/>
          </p:cNvSpPr>
          <p:nvPr>
            <p:ph idx="1"/>
          </p:nvPr>
        </p:nvSpPr>
        <p:spPr/>
        <p:txBody>
          <a:bodyPr>
            <a:normAutofit/>
          </a:bodyPr>
          <a:lstStyle/>
          <a:p>
            <a:r>
              <a:rPr lang="vi-VN" dirty="0"/>
              <a:t>Ước đoán mức nhu cầu trung bình hàng ngày của khách hàng</a:t>
            </a:r>
            <a:endParaRPr lang="en-US" dirty="0"/>
          </a:p>
          <a:p>
            <a:r>
              <a:rPr lang="vi-VN" dirty="0"/>
              <a:t>Cách thức điều chỉnh nhập hàng như vậy của nhà hàng có tối ưu về lợi nhuận chưa, tại sao? </a:t>
            </a:r>
            <a:r>
              <a:rPr lang="vi-VN"/>
              <a:t>Nếu chưa, thì số cách nhập cá để tối ưu về mặt lợi nhuận là như thế nào?</a:t>
            </a:r>
            <a:endParaRPr lang="vi-VN" dirty="0"/>
          </a:p>
        </p:txBody>
      </p:sp>
    </p:spTree>
    <p:extLst>
      <p:ext uri="{BB962C8B-B14F-4D97-AF65-F5344CB8AC3E}">
        <p14:creationId xmlns:p14="http://schemas.microsoft.com/office/powerpoint/2010/main" val="2774871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1616A-E70E-F52C-44B9-73F330B53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70421-EE80-7F7D-B805-849EAB93CA2E}"/>
              </a:ext>
            </a:extLst>
          </p:cNvPr>
          <p:cNvSpPr>
            <a:spLocks noGrp="1"/>
          </p:cNvSpPr>
          <p:nvPr>
            <p:ph type="title"/>
          </p:nvPr>
        </p:nvSpPr>
        <p:spPr/>
        <p:txBody>
          <a:bodyPr/>
          <a:lstStyle/>
          <a:p>
            <a:r>
              <a:rPr lang="en-US" dirty="0"/>
              <a:t>REFLECT</a:t>
            </a:r>
            <a:endParaRPr lang="vi-VN" dirty="0"/>
          </a:p>
        </p:txBody>
      </p:sp>
      <p:sp>
        <p:nvSpPr>
          <p:cNvPr id="3" name="Content Placeholder 2">
            <a:extLst>
              <a:ext uri="{FF2B5EF4-FFF2-40B4-BE49-F238E27FC236}">
                <a16:creationId xmlns:a16="http://schemas.microsoft.com/office/drawing/2014/main" id="{499ABC3A-0455-4702-401E-498484CB412F}"/>
              </a:ext>
            </a:extLst>
          </p:cNvPr>
          <p:cNvSpPr>
            <a:spLocks noGrp="1"/>
          </p:cNvSpPr>
          <p:nvPr>
            <p:ph idx="1"/>
          </p:nvPr>
        </p:nvSpPr>
        <p:spPr/>
        <p:txBody>
          <a:bodyPr>
            <a:normAutofit/>
          </a:bodyPr>
          <a:lstStyle/>
          <a:p>
            <a:r>
              <a:rPr lang="en-US" dirty="0" err="1">
                <a:latin typeface="Arial" panose="020B0604020202020204" pitchFamily="34" charset="0"/>
                <a:cs typeface="Arial" panose="020B0604020202020204" pitchFamily="34" charset="0"/>
              </a:rPr>
              <a:t>Nhiều</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công</a:t>
            </a:r>
            <a:r>
              <a:rPr lang="en-US" dirty="0">
                <a:latin typeface="Arial" panose="020B0604020202020204" pitchFamily="34" charset="0"/>
                <a:cs typeface="Arial" panose="020B0604020202020204" pitchFamily="34" charset="0"/>
              </a:rPr>
              <a:t> ty </a:t>
            </a:r>
            <a:r>
              <a:rPr lang="en-US" dirty="0" err="1">
                <a:latin typeface="Arial" panose="020B0604020202020204" pitchFamily="34" charset="0"/>
                <a:cs typeface="Arial" panose="020B0604020202020204" pitchFamily="34" charset="0"/>
              </a:rPr>
              <a:t>sử</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fraud detection </a:t>
            </a:r>
            <a:r>
              <a:rPr lang="en-US" dirty="0" err="1">
                <a:latin typeface="Arial" panose="020B0604020202020204" pitchFamily="34" charset="0"/>
                <a:cs typeface="Arial" panose="020B0604020202020204" pitchFamily="34" charset="0"/>
              </a:rPr>
              <a:t>để</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cấp</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mức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dụng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tự</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động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sau</a:t>
            </a:r>
            <a:r>
              <a:rPr lang="en-US" dirty="0">
                <a:latin typeface="Arial" panose="020B0604020202020204" pitchFamily="34" charset="0"/>
                <a:cs typeface="Arial" panose="020B0604020202020204" pitchFamily="34" charset="0"/>
              </a:rPr>
              <a:t> 3 </a:t>
            </a:r>
            <a:r>
              <a:rPr lang="en-US" dirty="0" err="1">
                <a:latin typeface="Arial" panose="020B0604020202020204" pitchFamily="34" charset="0"/>
                <a:cs typeface="Arial" panose="020B0604020202020204" pitchFamily="34" charset="0"/>
              </a:rPr>
              <a:t>tháng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nhưng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khách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hàng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nhận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được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hạn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mức</a:t>
            </a:r>
            <a:endParaRPr lang="vi-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7123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162</TotalTime>
  <Words>1729</Words>
  <Application>Microsoft Office PowerPoint</Application>
  <PresentationFormat>Widescreen</PresentationFormat>
  <Paragraphs>216</Paragraphs>
  <Slides>24</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Arial</vt:lpstr>
      <vt:lpstr>Century Gothic</vt:lpstr>
      <vt:lpstr>Wingdings 3</vt:lpstr>
      <vt:lpstr>Ion Boardroom</vt:lpstr>
      <vt:lpstr>Data Analyst tại NTJ</vt:lpstr>
      <vt:lpstr>ASK</vt:lpstr>
      <vt:lpstr>ASK</vt:lpstr>
      <vt:lpstr>ASK</vt:lpstr>
      <vt:lpstr>ASK</vt:lpstr>
      <vt:lpstr>ASK</vt:lpstr>
      <vt:lpstr>ASK</vt:lpstr>
      <vt:lpstr>ASK</vt:lpstr>
      <vt:lpstr>ASK</vt:lpstr>
      <vt:lpstr>ASK</vt:lpstr>
      <vt:lpstr>ASK</vt:lpstr>
      <vt:lpstr>ASK</vt:lpstr>
      <vt:lpstr>ASK</vt:lpstr>
      <vt:lpstr>ASK</vt:lpstr>
      <vt:lpstr>ASK</vt:lpstr>
      <vt:lpstr>ASK</vt:lpstr>
      <vt:lpstr>ASK</vt:lpstr>
      <vt:lpstr>ASK</vt:lpstr>
      <vt:lpstr>PREPARE</vt:lpstr>
      <vt:lpstr>PROCESS</vt:lpstr>
      <vt:lpstr>Analyze</vt:lpstr>
      <vt:lpstr>Share</vt:lpstr>
      <vt:lpstr>ACT</vt:lpstr>
      <vt:lpstr>REFLECT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 Do</dc:creator>
  <cp:lastModifiedBy>Tu Do</cp:lastModifiedBy>
  <cp:revision>5</cp:revision>
  <dcterms:created xsi:type="dcterms:W3CDTF">2026-01-01T21:11:42Z</dcterms:created>
  <dcterms:modified xsi:type="dcterms:W3CDTF">2026-01-07T16:26:52Z</dcterms:modified>
</cp:coreProperties>
</file>